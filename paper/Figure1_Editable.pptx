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a145b727d447c" /><Relationship Type="http://schemas.openxmlformats.org/officeDocument/2006/relationships/extended-properties" Target="/docProps/app.xml" Id="R263230512e654c4f" /><Relationship Type="http://schemas.openxmlformats.org/officeDocument/2006/relationships/officeDocument" Target="/ppt/presentation.xml" Id="Rffd524157b9f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ca7dead9a47de"/>
  </p:sldMasterIdLst>
  <p:notesMasterIdLst>
    <p:notesMasterId xmlns:r="http://schemas.openxmlformats.org/officeDocument/2006/relationships" r:id="Rdbd66efae0b249f8"/>
  </p:notesMasterIdLst>
  <p:sldIdLst>
    <p:sldId xmlns:r="http://schemas.openxmlformats.org/officeDocument/2006/relationships" id="256" r:id="R84a37c0d5d3e4db8"/>
  </p:sldIdLst>
  <p:sldSz cx="64800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d28061563413b" /><Relationship Type="http://schemas.openxmlformats.org/officeDocument/2006/relationships/slideMaster" Target="/ppt/slideMasters/slideMaster1.xml" Id="R4d2ca7dead9a47de" /><Relationship Type="http://schemas.openxmlformats.org/officeDocument/2006/relationships/notesMaster" Target="/ppt/notesMasters/notesMaster1.xml" Id="Rdbd66efae0b249f8" /><Relationship Type="http://schemas.openxmlformats.org/officeDocument/2006/relationships/presProps" Target="/ppt/presProps.xml" Id="Rdf7ad2590fc7442b" /><Relationship Type="http://schemas.openxmlformats.org/officeDocument/2006/relationships/tableStyles" Target="/ppt/tableStyles.xml" Id="Rd05d65f122754372" /><Relationship Type="http://schemas.openxmlformats.org/officeDocument/2006/relationships/slide" Target="/ppt/slides/slide1.xml" Id="R84a37c0d5d3e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442a105ff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ffa79a29ef42c1" /><Relationship Type="http://schemas.openxmlformats.org/officeDocument/2006/relationships/notesMaster" Target="/ppt/notesMasters/notesMaster1.xml" Id="R6852472bca7b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Panels a–c preserve the prior editable diagram. Panel d distinguishes later-presentation maintenance from target OOF adaptation: T1 outcomes fit the update; T2 learners are unseen in S and T1; T2 labels score but do not fit or choose a map. All illustrations are native editable shapes; no raster pictures or external icon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b8d6111a642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608f7166f4217" /><Relationship Type="http://schemas.openxmlformats.org/officeDocument/2006/relationships/slideLayout" Target="/ppt/slideLayouts/slideLayout1.xml" Id="Rc2a370faccc2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a370faccc2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36e9c593249e9" /><Relationship Type="http://schemas.openxmlformats.org/officeDocument/2006/relationships/notesSlide" Target="/ppt/notesSlides/notesSlide1.xml" Id="Rbf364f2620a0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AB56FEB5-ECCF-4356-B5B0-F9E6825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0" y="108000"/>
            <a:ext cx="4005000" cy="17100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2" name="target-panel">
            <a:extLst xmlns:a="http://schemas.openxmlformats.org/drawingml/2006/main">
              <a:ext uri="{FF2B5EF4-FFF2-40B4-BE49-F238E27FC236}">
                <a16:creationId xmlns:a16="http://schemas.microsoft.com/office/drawing/2014/main" id="{174A7A82-E320-45A7-97DB-E9BACF0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0" y="2034000"/>
            <a:ext cx="4005000" cy="1827000"/>
          </a:xfrm>
          <a:prstGeom xmlns:a="http://schemas.openxmlformats.org/drawingml/2006/main" prst="roundRect">
            <a:avLst>
              <a:gd name="adj" fmla="val 788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3" name="source-panel-title">
            <a:extLst xmlns:a="http://schemas.openxmlformats.org/drawingml/2006/main">
              <a:ext uri="{FF2B5EF4-FFF2-40B4-BE49-F238E27FC236}">
                <a16:creationId xmlns:a16="http://schemas.microsoft.com/office/drawing/2014/main" id="{BADD557C-6740-4282-A8C5-7F6B300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0" y="184500"/>
            <a:ext cx="2880000" cy="14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C39"/>
                </a:solidFill>
                <a:latin typeface="Arial"/>
                <a:ea typeface="Arial"/>
                <a:cs typeface="Arial"/>
              </a:rPr>
              <a:t>a  Historical source calibration</a:t>
            </a:r>
          </a:p>
        </p:txBody>
      </p:sp>
      <p:sp>
        <p:nvSpPr>
          <p:cNvPr id="4" name="target-panel-title">
            <a:extLst xmlns:a="http://schemas.openxmlformats.org/drawingml/2006/main">
              <a:ext uri="{FF2B5EF4-FFF2-40B4-BE49-F238E27FC236}">
                <a16:creationId xmlns:a16="http://schemas.microsoft.com/office/drawing/2014/main" id="{ED8FCC6E-EFE0-4C1D-957A-AD24FD9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0" y="2083500"/>
            <a:ext cx="1980000" cy="14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C39"/>
                </a:solidFill>
                <a:latin typeface="Arial"/>
                <a:ea typeface="Arial"/>
                <a:cs typeface="Arial"/>
              </a:rPr>
              <a:t>b  Later target evaluation</a:t>
            </a:r>
          </a:p>
        </p:txBody>
      </p:sp>
      <p:sp>
        <p:nvSpPr>
          <p:cNvPr id="5" name="comparison-panel">
            <a:extLst xmlns:a="http://schemas.openxmlformats.org/drawingml/2006/main">
              <a:ext uri="{FF2B5EF4-FFF2-40B4-BE49-F238E27FC236}">
                <a16:creationId xmlns:a16="http://schemas.microsoft.com/office/drawing/2014/main" id="{BBFC5DFB-39CB-4F65-9449-B64C708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000" y="522000"/>
            <a:ext cx="1278000" cy="33480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975">
            <a:solidFill>
              <a:srgbClr val="718096"/>
            </a:solidFill>
            <a:prstDash val="dash"/>
          </a:ln>
        </p:spPr>
      </p:sp>
      <p:sp>
        <p:nvSpPr>
          <p:cNvPr id="6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035D37FD-F0F2-4E5F-AA87-6062D81C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00" y="603000"/>
            <a:ext cx="1134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  Target comparison</a:t>
            </a:r>
          </a:p>
        </p:txBody>
      </p:sp>
      <p:sp>
        <p:nvSpPr>
          <p:cNvPr id="7" name="comparison-conditions">
            <a:extLst xmlns:a="http://schemas.openxmlformats.org/drawingml/2006/main">
              <a:ext uri="{FF2B5EF4-FFF2-40B4-BE49-F238E27FC236}">
                <a16:creationId xmlns:a16="http://schemas.microsoft.com/office/drawing/2014/main" id="{600554E1-A38B-4AA5-AE55-8401114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0" y="850500"/>
            <a:ext cx="1170000" cy="30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Same target learners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Same raw baseline</a:t>
            </a:r>
          </a:p>
        </p:txBody>
      </p:sp>
      <p:sp>
        <p:nvSpPr>
          <p:cNvPr id="8" name="model-training-note">
            <a:extLst xmlns:a="http://schemas.openxmlformats.org/drawingml/2006/main">
              <a:ext uri="{FF2B5EF4-FFF2-40B4-BE49-F238E27FC236}">
                <a16:creationId xmlns:a16="http://schemas.microsoft.com/office/drawing/2014/main" id="{5D7FCF8E-FFA1-4E92-B39A-CA6A855B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" y="1530000"/>
            <a:ext cx="738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Trained on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source data</a:t>
            </a:r>
          </a:p>
        </p:txBody>
      </p:sp>
      <p:sp>
        <p:nvSpPr>
          <p:cNvPr id="9" name="frozen-predictor">
            <a:extLst xmlns:a="http://schemas.openxmlformats.org/drawingml/2006/main">
              <a:ext uri="{FF2B5EF4-FFF2-40B4-BE49-F238E27FC236}">
                <a16:creationId xmlns:a16="http://schemas.microsoft.com/office/drawing/2014/main" id="{2F581E61-E891-45FD-9ABD-5AE5422C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" y="1894500"/>
            <a:ext cx="657000" cy="52650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6975">
            <a:solidFill>
              <a:srgbClr val="173453"/>
            </a:solidFill>
            <a:prstDash val="solid"/>
          </a:ln>
        </p:spPr>
      </p:sp>
      <p:sp>
        <p:nvSpPr>
          <p:cNvPr id="10" name="frozen-predictor-label">
            <a:extLst xmlns:a="http://schemas.openxmlformats.org/drawingml/2006/main">
              <a:ext uri="{FF2B5EF4-FFF2-40B4-BE49-F238E27FC236}">
                <a16:creationId xmlns:a16="http://schemas.microsoft.com/office/drawing/2014/main" id="{1443B69F-5779-4AB6-814B-91FE065D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" y="1930500"/>
            <a:ext cx="594000" cy="26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Frozen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predictor</a:t>
            </a:r>
          </a:p>
        </p:txBody>
      </p:sp>
      <p:sp>
        <p:nvSpPr>
          <p:cNvPr id="11" name="frozen-predictor-symbol">
            <a:extLst xmlns:a="http://schemas.openxmlformats.org/drawingml/2006/main">
              <a:ext uri="{FF2B5EF4-FFF2-40B4-BE49-F238E27FC236}">
                <a16:creationId xmlns:a16="http://schemas.microsoft.com/office/drawing/2014/main" id="{0DADFA58-CB53-4DC0-8F6B-CCA2BDA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" y="2218500"/>
            <a:ext cx="594000" cy="14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f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2" name="shared-model-note">
            <a:extLst xmlns:a="http://schemas.openxmlformats.org/drawingml/2006/main">
              <a:ext uri="{FF2B5EF4-FFF2-40B4-BE49-F238E27FC236}">
                <a16:creationId xmlns:a16="http://schemas.microsoft.com/office/drawing/2014/main" id="{D2F6DDB6-022A-49E6-A3C9-BCDD9576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" y="2484000"/>
            <a:ext cx="774000" cy="3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in both cohorts</a:t>
            </a:r>
          </a:p>
        </p:txBody>
      </p:sp>
      <p:sp>
        <p:nvSpPr>
          <p:cNvPr id="13" name="route-anchor-1">
            <a:extLst xmlns:a="http://schemas.openxmlformats.org/drawingml/2006/main">
              <a:ext uri="{FF2B5EF4-FFF2-40B4-BE49-F238E27FC236}">
                <a16:creationId xmlns:a16="http://schemas.microsoft.com/office/drawing/2014/main" id="{B24582C5-D965-4D3E-91C8-30F4A0E1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00" y="213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route-anchor-2">
            <a:extLst xmlns:a="http://schemas.openxmlformats.org/drawingml/2006/main">
              <a:ext uri="{FF2B5EF4-FFF2-40B4-BE49-F238E27FC236}">
                <a16:creationId xmlns:a16="http://schemas.microsoft.com/office/drawing/2014/main" id="{BE8D5920-A2F4-46C7-9E6E-E012DFE2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0" y="213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anchor-3">
            <a:extLst xmlns:a="http://schemas.openxmlformats.org/drawingml/2006/main">
              <a:ext uri="{FF2B5EF4-FFF2-40B4-BE49-F238E27FC236}">
                <a16:creationId xmlns:a16="http://schemas.microsoft.com/office/drawing/2014/main" id="{C84C4B0E-6F17-478F-9FCD-0C71F48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0" y="213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route-anchor-4">
            <a:extLst xmlns:a="http://schemas.openxmlformats.org/drawingml/2006/main">
              <a:ext uri="{FF2B5EF4-FFF2-40B4-BE49-F238E27FC236}">
                <a16:creationId xmlns:a16="http://schemas.microsoft.com/office/drawing/2014/main" id="{4016697B-89AA-4F98-97E8-BD72035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anchor-5">
            <a:extLst xmlns:a="http://schemas.openxmlformats.org/drawingml/2006/main">
              <a:ext uri="{FF2B5EF4-FFF2-40B4-BE49-F238E27FC236}">
                <a16:creationId xmlns:a16="http://schemas.microsoft.com/office/drawing/2014/main" id="{89AD5800-2E0F-4004-9F27-CA99FFBD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anchor-6">
            <a:extLst xmlns:a="http://schemas.openxmlformats.org/drawingml/2006/main">
              <a:ext uri="{FF2B5EF4-FFF2-40B4-BE49-F238E27FC236}">
                <a16:creationId xmlns:a16="http://schemas.microsoft.com/office/drawing/2014/main" id="{AD092964-3BFB-44FD-B58F-198DE9E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0" y="213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anchor-7">
            <a:extLst xmlns:a="http://schemas.openxmlformats.org/drawingml/2006/main">
              <a:ext uri="{FF2B5EF4-FFF2-40B4-BE49-F238E27FC236}">
                <a16:creationId xmlns:a16="http://schemas.microsoft.com/office/drawing/2014/main" id="{B60CF404-D323-4B45-8546-4FD4252B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route-anchor-8">
            <a:extLst xmlns:a="http://schemas.openxmlformats.org/drawingml/2006/main">
              <a:ext uri="{FF2B5EF4-FFF2-40B4-BE49-F238E27FC236}">
                <a16:creationId xmlns:a16="http://schemas.microsoft.com/office/drawing/2014/main" id="{3A674585-CA82-4E41-BA48-A2D1D7C4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branch-9">
            <a:extLst xmlns:a="http://schemas.openxmlformats.org/drawingml/2006/main">
              <a:ext uri="{FF2B5EF4-FFF2-40B4-BE49-F238E27FC236}">
                <a16:creationId xmlns:a16="http://schemas.microsoft.com/office/drawing/2014/main" id="{D801968F-D308-4EA8-A8C9-E29E1FE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00" y="2119500"/>
            <a:ext cx="27000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9"/>
          </a:solidFill>
          <a:ln xmlns:a="http://schemas.openxmlformats.org/drawingml/2006/main" w="0">
            <a:solidFill>
              <a:srgbClr val="202C39"/>
            </a:solidFill>
          </a:ln>
        </p:spPr>
      </p:sp>
      <p:sp>
        <p:nvSpPr>
          <p:cNvPr id="27" name="source-probability-edge">
            <a:extLst xmlns:a="http://schemas.openxmlformats.org/drawingml/2006/main">
              <a:ext uri="{FF2B5EF4-FFF2-40B4-BE49-F238E27FC236}">
                <a16:creationId xmlns:a16="http://schemas.microsoft.com/office/drawing/2014/main" id="{4D7254C6-AC57-45E9-B707-1B91957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" y="1242000"/>
            <a:ext cx="198000" cy="1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8" name="target-probability-edge">
            <a:extLst xmlns:a="http://schemas.openxmlformats.org/drawingml/2006/main">
              <a:ext uri="{FF2B5EF4-FFF2-40B4-BE49-F238E27FC236}">
                <a16:creationId xmlns:a16="http://schemas.microsoft.com/office/drawing/2014/main" id="{1D4B531D-76B2-480F-8616-33131E97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" y="3073500"/>
            <a:ext cx="198000" cy="1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83" name="source-native-learner-1-chair">
            <a:extLst xmlns:a="http://schemas.openxmlformats.org/drawingml/2006/main">
              <a:ext uri="{FF2B5EF4-FFF2-40B4-BE49-F238E27FC236}">
                <a16:creationId xmlns:a16="http://schemas.microsoft.com/office/drawing/2014/main" id="{DAD49BF8-B3A0-42C7-845A-EF32D8F8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500" y="5715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284" name="source-native-learner-1-neck">
            <a:extLst xmlns:a="http://schemas.openxmlformats.org/drawingml/2006/main">
              <a:ext uri="{FF2B5EF4-FFF2-40B4-BE49-F238E27FC236}">
                <a16:creationId xmlns:a16="http://schemas.microsoft.com/office/drawing/2014/main" id="{C3174B75-C9A9-4956-9A9B-D9C15F3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5500" y="5175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5" name="source-native-learner-1-torso">
            <a:extLst xmlns:a="http://schemas.openxmlformats.org/drawingml/2006/main">
              <a:ext uri="{FF2B5EF4-FFF2-40B4-BE49-F238E27FC236}">
                <a16:creationId xmlns:a16="http://schemas.microsoft.com/office/drawing/2014/main" id="{ACECEAC6-57E6-4B57-9737-54D7F5E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500" y="5625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286" name="source-native-learner-1-head">
            <a:extLst xmlns:a="http://schemas.openxmlformats.org/drawingml/2006/main">
              <a:ext uri="{FF2B5EF4-FFF2-40B4-BE49-F238E27FC236}">
                <a16:creationId xmlns:a16="http://schemas.microsoft.com/office/drawing/2014/main" id="{3E6A7505-C8A8-4193-8047-AEDAAA9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500" y="4140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287" name="source-native-learner-1-left-arm">
            <a:extLst xmlns:a="http://schemas.openxmlformats.org/drawingml/2006/main">
              <a:ext uri="{FF2B5EF4-FFF2-40B4-BE49-F238E27FC236}">
                <a16:creationId xmlns:a16="http://schemas.microsoft.com/office/drawing/2014/main" id="{5E67F595-75BB-4312-BF10-940F684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0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288" name="source-native-learner-1-right-arm">
            <a:extLst xmlns:a="http://schemas.openxmlformats.org/drawingml/2006/main">
              <a:ext uri="{FF2B5EF4-FFF2-40B4-BE49-F238E27FC236}">
                <a16:creationId xmlns:a16="http://schemas.microsoft.com/office/drawing/2014/main" id="{E93CA0B1-B48C-4CCC-BBAA-54379ED5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55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289" name="source-native-learner-1-left-hand">
            <a:extLst xmlns:a="http://schemas.openxmlformats.org/drawingml/2006/main">
              <a:ext uri="{FF2B5EF4-FFF2-40B4-BE49-F238E27FC236}">
                <a16:creationId xmlns:a16="http://schemas.microsoft.com/office/drawing/2014/main" id="{8AC596FE-4F8A-4C26-93F3-7B33F4F7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0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290" name="source-native-learner-1-right-hand">
            <a:extLst xmlns:a="http://schemas.openxmlformats.org/drawingml/2006/main">
              <a:ext uri="{FF2B5EF4-FFF2-40B4-BE49-F238E27FC236}">
                <a16:creationId xmlns:a16="http://schemas.microsoft.com/office/drawing/2014/main" id="{EFB4712F-0653-422B-94D5-2B9CE0D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55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291" name="source-native-learner-1-computer-frame">
            <a:extLst xmlns:a="http://schemas.openxmlformats.org/drawingml/2006/main">
              <a:ext uri="{FF2B5EF4-FFF2-40B4-BE49-F238E27FC236}">
                <a16:creationId xmlns:a16="http://schemas.microsoft.com/office/drawing/2014/main" id="{DD9356A1-D6B5-4823-9FC0-F4B6FF8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6390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292" name="source-native-learner-1-computer-screen">
            <a:extLst xmlns:a="http://schemas.openxmlformats.org/drawingml/2006/main">
              <a:ext uri="{FF2B5EF4-FFF2-40B4-BE49-F238E27FC236}">
                <a16:creationId xmlns:a16="http://schemas.microsoft.com/office/drawing/2014/main" id="{B1EDDABF-3AE3-4B3A-AC9F-596FB40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500" y="6615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</p:sp>
      <p:sp>
        <p:nvSpPr>
          <p:cNvPr id="293" name="source-native-learner-1-video-badge">
            <a:extLst xmlns:a="http://schemas.openxmlformats.org/drawingml/2006/main">
              <a:ext uri="{FF2B5EF4-FFF2-40B4-BE49-F238E27FC236}">
                <a16:creationId xmlns:a16="http://schemas.microsoft.com/office/drawing/2014/main" id="{79484BF1-153C-466C-A6EE-FB9100F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8000" y="6840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294" name="source-native-learner-1-play">
            <a:extLst xmlns:a="http://schemas.openxmlformats.org/drawingml/2006/main">
              <a:ext uri="{FF2B5EF4-FFF2-40B4-BE49-F238E27FC236}">
                <a16:creationId xmlns:a16="http://schemas.microsoft.com/office/drawing/2014/main" id="{AA7DC624-7EDA-4FC8-AF00-7E061AAC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206000" y="6975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5" name="source-native-learner-1-content-line-1">
            <a:extLst xmlns:a="http://schemas.openxmlformats.org/drawingml/2006/main">
              <a:ext uri="{FF2B5EF4-FFF2-40B4-BE49-F238E27FC236}">
                <a16:creationId xmlns:a16="http://schemas.microsoft.com/office/drawing/2014/main" id="{B143B60B-6C5F-4A2D-B039-7DBE57F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500" y="6885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296" name="source-native-learner-1-content-line-2">
            <a:extLst xmlns:a="http://schemas.openxmlformats.org/drawingml/2006/main">
              <a:ext uri="{FF2B5EF4-FFF2-40B4-BE49-F238E27FC236}">
                <a16:creationId xmlns:a16="http://schemas.microsoft.com/office/drawing/2014/main" id="{284412C5-4EC6-447A-BAA1-375D81A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500" y="7155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297" name="source-native-learner-1-computer-base">
            <a:extLst xmlns:a="http://schemas.openxmlformats.org/drawingml/2006/main">
              <a:ext uri="{FF2B5EF4-FFF2-40B4-BE49-F238E27FC236}">
                <a16:creationId xmlns:a16="http://schemas.microsoft.com/office/drawing/2014/main" id="{1160EF07-7C44-436B-95F8-676C56E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000" y="7920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298" name="source-native-learner-1-desk">
            <a:extLst xmlns:a="http://schemas.openxmlformats.org/drawingml/2006/main">
              <a:ext uri="{FF2B5EF4-FFF2-40B4-BE49-F238E27FC236}">
                <a16:creationId xmlns:a16="http://schemas.microsoft.com/office/drawing/2014/main" id="{EE55EFD3-B8A6-40A3-92BF-BA2265F6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000" y="8235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299" name="source-native-learner-1-desk-leg-left">
            <a:extLst xmlns:a="http://schemas.openxmlformats.org/drawingml/2006/main">
              <a:ext uri="{FF2B5EF4-FFF2-40B4-BE49-F238E27FC236}">
                <a16:creationId xmlns:a16="http://schemas.microsoft.com/office/drawing/2014/main" id="{D26EFCDD-1C24-4B59-9A4D-D3D5FCD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00" name="source-native-learner-1-desk-leg-right">
            <a:extLst xmlns:a="http://schemas.openxmlformats.org/drawingml/2006/main">
              <a:ext uri="{FF2B5EF4-FFF2-40B4-BE49-F238E27FC236}">
                <a16:creationId xmlns:a16="http://schemas.microsoft.com/office/drawing/2014/main" id="{805E1742-20EB-47AF-A04C-58CD9A1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7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01" name="source-native-learner-2-chair">
            <a:extLst xmlns:a="http://schemas.openxmlformats.org/drawingml/2006/main">
              <a:ext uri="{FF2B5EF4-FFF2-40B4-BE49-F238E27FC236}">
                <a16:creationId xmlns:a16="http://schemas.microsoft.com/office/drawing/2014/main" id="{4E2C3A19-8C4C-46A6-B62C-9ABCC820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9500" y="5715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302" name="source-native-learner-2-neck">
            <a:extLst xmlns:a="http://schemas.openxmlformats.org/drawingml/2006/main">
              <a:ext uri="{FF2B5EF4-FFF2-40B4-BE49-F238E27FC236}">
                <a16:creationId xmlns:a16="http://schemas.microsoft.com/office/drawing/2014/main" id="{E921EE16-94AE-4B9F-8028-A84B07C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0500" y="5175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3" name="source-native-learner-2-torso">
            <a:extLst xmlns:a="http://schemas.openxmlformats.org/drawingml/2006/main">
              <a:ext uri="{FF2B5EF4-FFF2-40B4-BE49-F238E27FC236}">
                <a16:creationId xmlns:a16="http://schemas.microsoft.com/office/drawing/2014/main" id="{0E90EC48-0F95-4BD9-B8BA-683D958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7500" y="5625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304" name="source-native-learner-2-head">
            <a:extLst xmlns:a="http://schemas.openxmlformats.org/drawingml/2006/main">
              <a:ext uri="{FF2B5EF4-FFF2-40B4-BE49-F238E27FC236}">
                <a16:creationId xmlns:a16="http://schemas.microsoft.com/office/drawing/2014/main" id="{9A38E856-20D8-4586-9BCA-65DA665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4500" y="4140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05" name="source-native-learner-2-left-arm">
            <a:extLst xmlns:a="http://schemas.openxmlformats.org/drawingml/2006/main">
              <a:ext uri="{FF2B5EF4-FFF2-40B4-BE49-F238E27FC236}">
                <a16:creationId xmlns:a16="http://schemas.microsoft.com/office/drawing/2014/main" id="{8C781F09-7F21-422A-9085-BAF47C8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0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06" name="source-native-learner-2-right-arm">
            <a:extLst xmlns:a="http://schemas.openxmlformats.org/drawingml/2006/main">
              <a:ext uri="{FF2B5EF4-FFF2-40B4-BE49-F238E27FC236}">
                <a16:creationId xmlns:a16="http://schemas.microsoft.com/office/drawing/2014/main" id="{62278293-C13C-4286-A97F-D61F749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05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07" name="source-native-learner-2-left-hand">
            <a:extLst xmlns:a="http://schemas.openxmlformats.org/drawingml/2006/main">
              <a:ext uri="{FF2B5EF4-FFF2-40B4-BE49-F238E27FC236}">
                <a16:creationId xmlns:a16="http://schemas.microsoft.com/office/drawing/2014/main" id="{A3CFB2CB-4EE3-47DE-8341-184376E2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0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08" name="source-native-learner-2-right-hand">
            <a:extLst xmlns:a="http://schemas.openxmlformats.org/drawingml/2006/main">
              <a:ext uri="{FF2B5EF4-FFF2-40B4-BE49-F238E27FC236}">
                <a16:creationId xmlns:a16="http://schemas.microsoft.com/office/drawing/2014/main" id="{80F7A9D7-B9B7-4201-AE7C-B51F368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05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09" name="source-native-learner-2-computer-frame">
            <a:extLst xmlns:a="http://schemas.openxmlformats.org/drawingml/2006/main">
              <a:ext uri="{FF2B5EF4-FFF2-40B4-BE49-F238E27FC236}">
                <a16:creationId xmlns:a16="http://schemas.microsoft.com/office/drawing/2014/main" id="{A73B41E3-2A37-441E-B2E7-BC705D6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000" y="6390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10" name="source-native-learner-2-computer-screen">
            <a:extLst xmlns:a="http://schemas.openxmlformats.org/drawingml/2006/main">
              <a:ext uri="{FF2B5EF4-FFF2-40B4-BE49-F238E27FC236}">
                <a16:creationId xmlns:a16="http://schemas.microsoft.com/office/drawing/2014/main" id="{3C401E7C-B4CC-466A-A6BA-509FFCB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0500" y="6615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</p:sp>
      <p:sp>
        <p:nvSpPr>
          <p:cNvPr id="311" name="source-native-learner-2-video-badge">
            <a:extLst xmlns:a="http://schemas.openxmlformats.org/drawingml/2006/main">
              <a:ext uri="{FF2B5EF4-FFF2-40B4-BE49-F238E27FC236}">
                <a16:creationId xmlns:a16="http://schemas.microsoft.com/office/drawing/2014/main" id="{22FB305A-6D32-4DF3-B145-AEF3860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000" y="6840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12" name="source-native-learner-2-play">
            <a:extLst xmlns:a="http://schemas.openxmlformats.org/drawingml/2006/main">
              <a:ext uri="{FF2B5EF4-FFF2-40B4-BE49-F238E27FC236}">
                <a16:creationId xmlns:a16="http://schemas.microsoft.com/office/drawing/2014/main" id="{D75D9650-0340-4890-A919-7B5E75A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611000" y="6975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3" name="source-native-learner-2-content-line-1">
            <a:extLst xmlns:a="http://schemas.openxmlformats.org/drawingml/2006/main">
              <a:ext uri="{FF2B5EF4-FFF2-40B4-BE49-F238E27FC236}">
                <a16:creationId xmlns:a16="http://schemas.microsoft.com/office/drawing/2014/main" id="{4CC2BD26-6CE7-4A44-8A47-D49C5AD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500" y="6885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14" name="source-native-learner-2-content-line-2">
            <a:extLst xmlns:a="http://schemas.openxmlformats.org/drawingml/2006/main">
              <a:ext uri="{FF2B5EF4-FFF2-40B4-BE49-F238E27FC236}">
                <a16:creationId xmlns:a16="http://schemas.microsoft.com/office/drawing/2014/main" id="{2E81A3EB-FAA7-4025-9DFC-60129433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500" y="7155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15" name="source-native-learner-2-computer-base">
            <a:extLst xmlns:a="http://schemas.openxmlformats.org/drawingml/2006/main">
              <a:ext uri="{FF2B5EF4-FFF2-40B4-BE49-F238E27FC236}">
                <a16:creationId xmlns:a16="http://schemas.microsoft.com/office/drawing/2014/main" id="{0E65E1BD-C4C5-4677-9827-B6BC297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0000" y="7920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316" name="source-native-learner-2-desk">
            <a:extLst xmlns:a="http://schemas.openxmlformats.org/drawingml/2006/main">
              <a:ext uri="{FF2B5EF4-FFF2-40B4-BE49-F238E27FC236}">
                <a16:creationId xmlns:a16="http://schemas.microsoft.com/office/drawing/2014/main" id="{CF572C4E-3E80-49A5-917E-55B6A77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2000" y="8235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17" name="source-native-learner-2-desk-leg-left">
            <a:extLst xmlns:a="http://schemas.openxmlformats.org/drawingml/2006/main">
              <a:ext uri="{FF2B5EF4-FFF2-40B4-BE49-F238E27FC236}">
                <a16:creationId xmlns:a16="http://schemas.microsoft.com/office/drawing/2014/main" id="{A71F2583-7797-4F8E-8496-F0DB325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5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18" name="source-native-learner-2-desk-leg-right">
            <a:extLst xmlns:a="http://schemas.openxmlformats.org/drawingml/2006/main">
              <a:ext uri="{FF2B5EF4-FFF2-40B4-BE49-F238E27FC236}">
                <a16:creationId xmlns:a16="http://schemas.microsoft.com/office/drawing/2014/main" id="{CD05D333-3127-48CF-868D-7B9F15B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27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19" name="source-native-learner-3-chair">
            <a:extLst xmlns:a="http://schemas.openxmlformats.org/drawingml/2006/main">
              <a:ext uri="{FF2B5EF4-FFF2-40B4-BE49-F238E27FC236}">
                <a16:creationId xmlns:a16="http://schemas.microsoft.com/office/drawing/2014/main" id="{EE4E6079-88DC-4716-8280-34E7B8F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500" y="5715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320" name="source-native-learner-3-neck">
            <a:extLst xmlns:a="http://schemas.openxmlformats.org/drawingml/2006/main">
              <a:ext uri="{FF2B5EF4-FFF2-40B4-BE49-F238E27FC236}">
                <a16:creationId xmlns:a16="http://schemas.microsoft.com/office/drawing/2014/main" id="{1D24EA82-3764-46B6-B199-3CB1E82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5500" y="5175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" name="source-native-learner-3-torso">
            <a:extLst xmlns:a="http://schemas.openxmlformats.org/drawingml/2006/main">
              <a:ext uri="{FF2B5EF4-FFF2-40B4-BE49-F238E27FC236}">
                <a16:creationId xmlns:a16="http://schemas.microsoft.com/office/drawing/2014/main" id="{6BDDAC9C-41B8-472F-8F03-6329544A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500" y="5625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322" name="source-native-learner-3-head">
            <a:extLst xmlns:a="http://schemas.openxmlformats.org/drawingml/2006/main">
              <a:ext uri="{FF2B5EF4-FFF2-40B4-BE49-F238E27FC236}">
                <a16:creationId xmlns:a16="http://schemas.microsoft.com/office/drawing/2014/main" id="{39DA4F1C-5621-455D-8BCC-16D0A7C1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9500" y="4140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23" name="source-native-learner-3-left-arm">
            <a:extLst xmlns:a="http://schemas.openxmlformats.org/drawingml/2006/main">
              <a:ext uri="{FF2B5EF4-FFF2-40B4-BE49-F238E27FC236}">
                <a16:creationId xmlns:a16="http://schemas.microsoft.com/office/drawing/2014/main" id="{946AEE4F-0F32-40B8-80B7-6B55FBE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0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24" name="source-native-learner-3-right-arm">
            <a:extLst xmlns:a="http://schemas.openxmlformats.org/drawingml/2006/main">
              <a:ext uri="{FF2B5EF4-FFF2-40B4-BE49-F238E27FC236}">
                <a16:creationId xmlns:a16="http://schemas.microsoft.com/office/drawing/2014/main" id="{7733382F-2337-4A16-89D0-7265293D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500" y="5940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0DC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25" name="source-native-learner-3-left-hand">
            <a:extLst xmlns:a="http://schemas.openxmlformats.org/drawingml/2006/main">
              <a:ext uri="{FF2B5EF4-FFF2-40B4-BE49-F238E27FC236}">
                <a16:creationId xmlns:a16="http://schemas.microsoft.com/office/drawing/2014/main" id="{AD40A431-9B20-42CB-B0F1-71A0426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0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26" name="source-native-learner-3-right-hand">
            <a:extLst xmlns:a="http://schemas.openxmlformats.org/drawingml/2006/main">
              <a:ext uri="{FF2B5EF4-FFF2-40B4-BE49-F238E27FC236}">
                <a16:creationId xmlns:a16="http://schemas.microsoft.com/office/drawing/2014/main" id="{A23A722D-6C54-498B-A407-394E222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500" y="7065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27" name="source-native-learner-3-computer-frame">
            <a:extLst xmlns:a="http://schemas.openxmlformats.org/drawingml/2006/main">
              <a:ext uri="{FF2B5EF4-FFF2-40B4-BE49-F238E27FC236}">
                <a16:creationId xmlns:a16="http://schemas.microsoft.com/office/drawing/2014/main" id="{5C396874-8EBA-4718-B0DA-21A21FFD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3000" y="6390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28" name="source-native-learner-3-computer-screen">
            <a:extLst xmlns:a="http://schemas.openxmlformats.org/drawingml/2006/main">
              <a:ext uri="{FF2B5EF4-FFF2-40B4-BE49-F238E27FC236}">
                <a16:creationId xmlns:a16="http://schemas.microsoft.com/office/drawing/2014/main" id="{4FBB1B76-EDD4-44AA-955C-7A0F7F6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00" y="6615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</p:sp>
      <p:sp>
        <p:nvSpPr>
          <p:cNvPr id="329" name="source-native-learner-3-video-badge">
            <a:extLst xmlns:a="http://schemas.openxmlformats.org/drawingml/2006/main">
              <a:ext uri="{FF2B5EF4-FFF2-40B4-BE49-F238E27FC236}">
                <a16:creationId xmlns:a16="http://schemas.microsoft.com/office/drawing/2014/main" id="{047B5DCA-0965-423B-94FC-FCFDA36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8000" y="6840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30" name="source-native-learner-3-play">
            <a:extLst xmlns:a="http://schemas.openxmlformats.org/drawingml/2006/main">
              <a:ext uri="{FF2B5EF4-FFF2-40B4-BE49-F238E27FC236}">
                <a16:creationId xmlns:a16="http://schemas.microsoft.com/office/drawing/2014/main" id="{A241058E-DF3A-46C8-848D-8881F40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2016000" y="6975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1" name="source-native-learner-3-content-line-1">
            <a:extLst xmlns:a="http://schemas.openxmlformats.org/drawingml/2006/main">
              <a:ext uri="{FF2B5EF4-FFF2-40B4-BE49-F238E27FC236}">
                <a16:creationId xmlns:a16="http://schemas.microsoft.com/office/drawing/2014/main" id="{089215F4-FFE6-4C83-A25F-05E0F92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3500" y="6885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32" name="source-native-learner-3-content-line-2">
            <a:extLst xmlns:a="http://schemas.openxmlformats.org/drawingml/2006/main">
              <a:ext uri="{FF2B5EF4-FFF2-40B4-BE49-F238E27FC236}">
                <a16:creationId xmlns:a16="http://schemas.microsoft.com/office/drawing/2014/main" id="{65019A1B-ADB6-44F9-AB3D-B22BAEE2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3500" y="7155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33" name="source-native-learner-3-computer-base">
            <a:extLst xmlns:a="http://schemas.openxmlformats.org/drawingml/2006/main">
              <a:ext uri="{FF2B5EF4-FFF2-40B4-BE49-F238E27FC236}">
                <a16:creationId xmlns:a16="http://schemas.microsoft.com/office/drawing/2014/main" id="{6AC59CBA-BD40-48E9-9C0B-77F15EC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5000" y="7920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334" name="source-native-learner-3-desk">
            <a:extLst xmlns:a="http://schemas.openxmlformats.org/drawingml/2006/main">
              <a:ext uri="{FF2B5EF4-FFF2-40B4-BE49-F238E27FC236}">
                <a16:creationId xmlns:a16="http://schemas.microsoft.com/office/drawing/2014/main" id="{AB057948-0480-4670-B0CA-468AD3E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7000" y="8235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35" name="source-native-learner-3-desk-leg-left">
            <a:extLst xmlns:a="http://schemas.openxmlformats.org/drawingml/2006/main">
              <a:ext uri="{FF2B5EF4-FFF2-40B4-BE49-F238E27FC236}">
                <a16:creationId xmlns:a16="http://schemas.microsoft.com/office/drawing/2014/main" id="{65FD28AC-6546-4CCC-B1DE-FF034C8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5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36" name="source-native-learner-3-desk-leg-right">
            <a:extLst xmlns:a="http://schemas.openxmlformats.org/drawingml/2006/main">
              <a:ext uri="{FF2B5EF4-FFF2-40B4-BE49-F238E27FC236}">
                <a16:creationId xmlns:a16="http://schemas.microsoft.com/office/drawing/2014/main" id="{1FB8CC8A-64C9-4E1E-9F4B-F196A95B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7700" y="8415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0" name="source-learners">
            <a:extLst xmlns:a="http://schemas.openxmlformats.org/drawingml/2006/main">
              <a:ext uri="{FF2B5EF4-FFF2-40B4-BE49-F238E27FC236}">
                <a16:creationId xmlns:a16="http://schemas.microsoft.com/office/drawing/2014/main" id="{67243371-5D93-4DB5-AD41-E07B2BB9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00" y="931500"/>
            <a:ext cx="126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Held-out source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calibration learners</a:t>
            </a:r>
          </a:p>
        </p:txBody>
      </p:sp>
      <p:sp>
        <p:nvSpPr>
          <p:cNvPr id="31" name="source-calibration-input">
            <a:extLst xmlns:a="http://schemas.openxmlformats.org/drawingml/2006/main">
              <a:ext uri="{FF2B5EF4-FFF2-40B4-BE49-F238E27FC236}">
                <a16:creationId xmlns:a16="http://schemas.microsoft.com/office/drawing/2014/main" id="{A9E6991D-B7E6-481F-8758-AA370CE7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60000"/>
            <a:ext cx="1071000" cy="3060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975">
            <a:solidFill>
              <a:srgbClr val="718096"/>
            </a:solidFill>
            <a:prstDash val="solid"/>
          </a:ln>
        </p:spPr>
      </p:sp>
      <p:sp>
        <p:nvSpPr>
          <p:cNvPr id="32" name="source-input-values">
            <a:extLst xmlns:a="http://schemas.openxmlformats.org/drawingml/2006/main">
              <a:ext uri="{FF2B5EF4-FFF2-40B4-BE49-F238E27FC236}">
                <a16:creationId xmlns:a16="http://schemas.microsoft.com/office/drawing/2014/main" id="{344E0FF2-C7B7-4C02-852F-142E4981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00" y="1323000"/>
            <a:ext cx="9720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(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, 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y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33" name="route-anchor-10">
            <a:extLst xmlns:a="http://schemas.openxmlformats.org/drawingml/2006/main">
              <a:ext uri="{FF2B5EF4-FFF2-40B4-BE49-F238E27FC236}">
                <a16:creationId xmlns:a16="http://schemas.microsoft.com/office/drawing/2014/main" id="{55286BCC-1758-4852-86BF-FC79208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anchor-11">
            <a:extLst xmlns:a="http://schemas.openxmlformats.org/drawingml/2006/main">
              <a:ext uri="{FF2B5EF4-FFF2-40B4-BE49-F238E27FC236}">
                <a16:creationId xmlns:a16="http://schemas.microsoft.com/office/drawing/2014/main" id="{1677BF74-E8EE-405E-A852-42A9678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route-anchor-12">
            <a:extLst xmlns:a="http://schemas.openxmlformats.org/drawingml/2006/main">
              <a:ext uri="{FF2B5EF4-FFF2-40B4-BE49-F238E27FC236}">
                <a16:creationId xmlns:a16="http://schemas.microsoft.com/office/drawing/2014/main" id="{D146EF73-3C49-49D5-8194-74688E8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anchor-13">
            <a:extLst xmlns:a="http://schemas.openxmlformats.org/drawingml/2006/main">
              <a:ext uri="{FF2B5EF4-FFF2-40B4-BE49-F238E27FC236}">
                <a16:creationId xmlns:a16="http://schemas.microsoft.com/office/drawing/2014/main" id="{8C8C3234-F608-4B75-93D2-1207F531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696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route-anchor-14">
            <a:extLst xmlns:a="http://schemas.openxmlformats.org/drawingml/2006/main">
              <a:ext uri="{FF2B5EF4-FFF2-40B4-BE49-F238E27FC236}">
                <a16:creationId xmlns:a16="http://schemas.microsoft.com/office/drawing/2014/main" id="{F88A76ED-6100-4E8E-BA30-2463716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100" y="696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route-anchor-15">
            <a:extLst xmlns:a="http://schemas.openxmlformats.org/drawingml/2006/main">
              <a:ext uri="{FF2B5EF4-FFF2-40B4-BE49-F238E27FC236}">
                <a16:creationId xmlns:a16="http://schemas.microsoft.com/office/drawing/2014/main" id="{D15D6080-2544-4B62-B6F5-B584A9EA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141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-anchor-16">
            <a:extLst xmlns:a="http://schemas.openxmlformats.org/drawingml/2006/main">
              <a:ext uri="{FF2B5EF4-FFF2-40B4-BE49-F238E27FC236}">
                <a16:creationId xmlns:a16="http://schemas.microsoft.com/office/drawing/2014/main" id="{4BCA5850-CCEC-42B9-ACD7-F3B0FF2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14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anchor-17">
            <a:extLst xmlns:a="http://schemas.openxmlformats.org/drawingml/2006/main">
              <a:ext uri="{FF2B5EF4-FFF2-40B4-BE49-F238E27FC236}">
                <a16:creationId xmlns:a16="http://schemas.microsoft.com/office/drawing/2014/main" id="{B470F161-9302-4DE2-A847-905B84A5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100" y="14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branch-18">
            <a:extLst xmlns:a="http://schemas.openxmlformats.org/drawingml/2006/main">
              <a:ext uri="{FF2B5EF4-FFF2-40B4-BE49-F238E27FC236}">
                <a16:creationId xmlns:a16="http://schemas.microsoft.com/office/drawing/2014/main" id="{10E50F07-AB09-4BA8-A639-B1AEFA9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500" y="1399500"/>
            <a:ext cx="27000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718096"/>
            </a:solidFill>
          </a:ln>
        </p:spPr>
      </p:sp>
      <p:sp>
        <p:nvSpPr>
          <p:cNvPr id="47" name="source-oof-back2">
            <a:extLst xmlns:a="http://schemas.openxmlformats.org/drawingml/2006/main">
              <a:ext uri="{FF2B5EF4-FFF2-40B4-BE49-F238E27FC236}">
                <a16:creationId xmlns:a16="http://schemas.microsoft.com/office/drawing/2014/main" id="{FB59EAD6-B36B-4DAB-A630-02CF9452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000" y="477000"/>
            <a:ext cx="1170000" cy="3690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48" name="source-oof-back1">
            <a:extLst xmlns:a="http://schemas.openxmlformats.org/drawingml/2006/main">
              <a:ext uri="{FF2B5EF4-FFF2-40B4-BE49-F238E27FC236}">
                <a16:creationId xmlns:a16="http://schemas.microsoft.com/office/drawing/2014/main" id="{7ACF3FB2-EF56-445A-B020-D14A0EF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0" y="495000"/>
            <a:ext cx="1170000" cy="3690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49" name="source-oof">
            <a:extLst xmlns:a="http://schemas.openxmlformats.org/drawingml/2006/main">
              <a:ext uri="{FF2B5EF4-FFF2-40B4-BE49-F238E27FC236}">
                <a16:creationId xmlns:a16="http://schemas.microsoft.com/office/drawing/2014/main" id="{2C7B083A-5587-4BD9-AD73-D92BBBD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00" y="513000"/>
            <a:ext cx="1170000" cy="3690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6975">
            <a:solidFill>
              <a:srgbClr val="718096"/>
            </a:solidFill>
            <a:prstDash val="solid"/>
          </a:ln>
        </p:spPr>
      </p:sp>
      <p:sp>
        <p:nvSpPr>
          <p:cNvPr id="50" name="source-oof-label">
            <a:extLst xmlns:a="http://schemas.openxmlformats.org/drawingml/2006/main">
              <a:ext uri="{FF2B5EF4-FFF2-40B4-BE49-F238E27FC236}">
                <a16:creationId xmlns:a16="http://schemas.microsoft.com/office/drawing/2014/main" id="{C9468784-E365-4808-BA39-104A9C5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00" y="562500"/>
            <a:ext cx="1062000" cy="1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Source OOF</a:t>
            </a:r>
          </a:p>
        </p:txBody>
      </p:sp>
      <p:sp>
        <p:nvSpPr>
          <p:cNvPr id="51" name="source-oof-subtitle">
            <a:extLst xmlns:a="http://schemas.openxmlformats.org/drawingml/2006/main">
              <a:ext uri="{FF2B5EF4-FFF2-40B4-BE49-F238E27FC236}">
                <a16:creationId xmlns:a16="http://schemas.microsoft.com/office/drawing/2014/main" id="{DCA9C772-8D5E-4C0F-A107-00B0218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00" y="724500"/>
            <a:ext cx="1062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Calibration gain</a:t>
            </a:r>
          </a:p>
        </p:txBody>
      </p:sp>
      <p:sp>
        <p:nvSpPr>
          <p:cNvPr id="52" name="route-anchor-19">
            <a:extLst xmlns:a="http://schemas.openxmlformats.org/drawingml/2006/main">
              <a:ext uri="{FF2B5EF4-FFF2-40B4-BE49-F238E27FC236}">
                <a16:creationId xmlns:a16="http://schemas.microsoft.com/office/drawing/2014/main" id="{E10E316E-80A8-4222-8596-8FFD756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00" y="696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oute-anchor-20">
            <a:extLst xmlns:a="http://schemas.openxmlformats.org/drawingml/2006/main">
              <a:ext uri="{FF2B5EF4-FFF2-40B4-BE49-F238E27FC236}">
                <a16:creationId xmlns:a16="http://schemas.microsoft.com/office/drawing/2014/main" id="{631AAF4D-04A0-47CB-B53E-A73E977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100" y="696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source-gain">
            <a:extLst xmlns:a="http://schemas.openxmlformats.org/drawingml/2006/main">
              <a:ext uri="{FF2B5EF4-FFF2-40B4-BE49-F238E27FC236}">
                <a16:creationId xmlns:a16="http://schemas.microsoft.com/office/drawing/2014/main" id="{AA4754A4-3BF5-4190-891F-66F490E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00" y="513000"/>
            <a:ext cx="459000" cy="3690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975">
            <a:solidFill>
              <a:srgbClr val="718096"/>
            </a:solidFill>
            <a:prstDash val="solid"/>
          </a:ln>
        </p:spPr>
      </p:sp>
      <p:sp>
        <p:nvSpPr>
          <p:cNvPr id="56" name="source-gain-symbol">
            <a:extLst xmlns:a="http://schemas.openxmlformats.org/drawingml/2006/main">
              <a:ext uri="{FF2B5EF4-FFF2-40B4-BE49-F238E27FC236}">
                <a16:creationId xmlns:a16="http://schemas.microsoft.com/office/drawing/2014/main" id="{8D60BE04-6B8C-49A9-AF6C-50408ED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000" y="621000"/>
            <a:ext cx="387000" cy="1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G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7" name="source-gain-label">
            <a:extLst xmlns:a="http://schemas.openxmlformats.org/drawingml/2006/main">
              <a:ext uri="{FF2B5EF4-FFF2-40B4-BE49-F238E27FC236}">
                <a16:creationId xmlns:a16="http://schemas.microsoft.com/office/drawing/2014/main" id="{B1A5DEFF-DF32-4602-BF46-B89A4CB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000" y="922500"/>
            <a:ext cx="6795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Source gain</a:t>
            </a:r>
          </a:p>
        </p:txBody>
      </p:sp>
      <p:sp>
        <p:nvSpPr>
          <p:cNvPr id="58" name="full-pool-calibration">
            <a:extLst xmlns:a="http://schemas.openxmlformats.org/drawingml/2006/main">
              <a:ext uri="{FF2B5EF4-FFF2-40B4-BE49-F238E27FC236}">
                <a16:creationId xmlns:a16="http://schemas.microsoft.com/office/drawing/2014/main" id="{FD28CCE7-C222-4D0B-83AE-D37ABE93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00" y="1305000"/>
            <a:ext cx="1170000" cy="3780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6"/>
          </a:solidFill>
          <a:ln xmlns:a="http://schemas.openxmlformats.org/drawingml/2006/main" w="6975">
            <a:solidFill>
              <a:srgbClr val="D95F0E"/>
            </a:solidFill>
            <a:prstDash val="solid"/>
          </a:ln>
        </p:spPr>
      </p:sp>
      <p:sp>
        <p:nvSpPr>
          <p:cNvPr id="59" name="full-pool-label">
            <a:extLst xmlns:a="http://schemas.openxmlformats.org/drawingml/2006/main">
              <a:ext uri="{FF2B5EF4-FFF2-40B4-BE49-F238E27FC236}">
                <a16:creationId xmlns:a16="http://schemas.microsoft.com/office/drawing/2014/main" id="{23D7A78A-3E22-4136-8B30-174265B5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1341000"/>
            <a:ext cx="1089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Full-pool calibration</a:t>
            </a:r>
          </a:p>
        </p:txBody>
      </p:sp>
      <p:sp>
        <p:nvSpPr>
          <p:cNvPr id="60" name="source-map-symbol">
            <a:extLst xmlns:a="http://schemas.openxmlformats.org/drawingml/2006/main">
              <a:ext uri="{FF2B5EF4-FFF2-40B4-BE49-F238E27FC236}">
                <a16:creationId xmlns:a16="http://schemas.microsoft.com/office/drawing/2014/main" id="{48260294-42B1-4882-990C-156B975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1507500"/>
            <a:ext cx="1089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1" name="route-anchor-21">
            <a:extLst xmlns:a="http://schemas.openxmlformats.org/drawingml/2006/main">
              <a:ext uri="{FF2B5EF4-FFF2-40B4-BE49-F238E27FC236}">
                <a16:creationId xmlns:a16="http://schemas.microsoft.com/office/drawing/2014/main" id="{F10D3D8C-9C63-4397-9A19-8DCDF6F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00" y="168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route-anchor-22">
            <a:extLst xmlns:a="http://schemas.openxmlformats.org/drawingml/2006/main">
              <a:ext uri="{FF2B5EF4-FFF2-40B4-BE49-F238E27FC236}">
                <a16:creationId xmlns:a16="http://schemas.microsoft.com/office/drawing/2014/main" id="{C2A1F8C0-FA99-43DE-87EE-12B3BD7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00" y="2204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map-transfer-label">
            <a:extLst xmlns:a="http://schemas.openxmlformats.org/drawingml/2006/main">
              <a:ext uri="{FF2B5EF4-FFF2-40B4-BE49-F238E27FC236}">
                <a16:creationId xmlns:a16="http://schemas.microsoft.com/office/drawing/2014/main" id="{29E2975B-1A87-4F38-8FC6-E2BC3874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000" y="1858500"/>
            <a:ext cx="1224000" cy="1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Transfer unchanged</a:t>
            </a:r>
          </a:p>
        </p:txBody>
      </p:sp>
      <p:sp>
        <p:nvSpPr>
          <p:cNvPr id="337" name="target-native-learner-1-chair">
            <a:extLst xmlns:a="http://schemas.openxmlformats.org/drawingml/2006/main">
              <a:ext uri="{FF2B5EF4-FFF2-40B4-BE49-F238E27FC236}">
                <a16:creationId xmlns:a16="http://schemas.microsoft.com/office/drawing/2014/main" id="{6298EA3F-41EA-40CD-A868-1A23E36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500" y="25380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338" name="target-native-learner-1-neck">
            <a:extLst xmlns:a="http://schemas.openxmlformats.org/drawingml/2006/main">
              <a:ext uri="{FF2B5EF4-FFF2-40B4-BE49-F238E27FC236}">
                <a16:creationId xmlns:a16="http://schemas.microsoft.com/office/drawing/2014/main" id="{E07BF239-3447-4B87-93D2-791DF56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5500" y="24840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9" name="target-native-learner-1-torso">
            <a:extLst xmlns:a="http://schemas.openxmlformats.org/drawingml/2006/main">
              <a:ext uri="{FF2B5EF4-FFF2-40B4-BE49-F238E27FC236}">
                <a16:creationId xmlns:a16="http://schemas.microsoft.com/office/drawing/2014/main" id="{691A4763-5CC3-4D2A-8427-54B75ACE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500" y="25290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340" name="target-native-learner-1-head">
            <a:extLst xmlns:a="http://schemas.openxmlformats.org/drawingml/2006/main">
              <a:ext uri="{FF2B5EF4-FFF2-40B4-BE49-F238E27FC236}">
                <a16:creationId xmlns:a16="http://schemas.microsoft.com/office/drawing/2014/main" id="{8A305D65-287C-4E02-885C-9649B74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500" y="23805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41" name="target-native-learner-1-left-arm">
            <a:extLst xmlns:a="http://schemas.openxmlformats.org/drawingml/2006/main">
              <a:ext uri="{FF2B5EF4-FFF2-40B4-BE49-F238E27FC236}">
                <a16:creationId xmlns:a16="http://schemas.microsoft.com/office/drawing/2014/main" id="{130B2183-7640-4F1A-B4D2-A2C665BE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0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42" name="target-native-learner-1-right-arm">
            <a:extLst xmlns:a="http://schemas.openxmlformats.org/drawingml/2006/main">
              <a:ext uri="{FF2B5EF4-FFF2-40B4-BE49-F238E27FC236}">
                <a16:creationId xmlns:a16="http://schemas.microsoft.com/office/drawing/2014/main" id="{8007495C-5E20-4110-A4DE-D9EBA417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55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43" name="target-native-learner-1-left-hand">
            <a:extLst xmlns:a="http://schemas.openxmlformats.org/drawingml/2006/main">
              <a:ext uri="{FF2B5EF4-FFF2-40B4-BE49-F238E27FC236}">
                <a16:creationId xmlns:a16="http://schemas.microsoft.com/office/drawing/2014/main" id="{F52D2335-328D-4D97-999C-645A6E7F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0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44" name="target-native-learner-1-right-hand">
            <a:extLst xmlns:a="http://schemas.openxmlformats.org/drawingml/2006/main">
              <a:ext uri="{FF2B5EF4-FFF2-40B4-BE49-F238E27FC236}">
                <a16:creationId xmlns:a16="http://schemas.microsoft.com/office/drawing/2014/main" id="{AA726F02-1E84-4697-8458-EB6A07A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55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45" name="target-native-learner-1-computer-frame">
            <a:extLst xmlns:a="http://schemas.openxmlformats.org/drawingml/2006/main">
              <a:ext uri="{FF2B5EF4-FFF2-40B4-BE49-F238E27FC236}">
                <a16:creationId xmlns:a16="http://schemas.microsoft.com/office/drawing/2014/main" id="{F91ADC11-EBDA-4CA7-8E6B-44D78E2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6055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46" name="target-native-learner-1-computer-screen">
            <a:extLst xmlns:a="http://schemas.openxmlformats.org/drawingml/2006/main">
              <a:ext uri="{FF2B5EF4-FFF2-40B4-BE49-F238E27FC236}">
                <a16:creationId xmlns:a16="http://schemas.microsoft.com/office/drawing/2014/main" id="{1073837A-D084-4396-BD75-E49631D0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500" y="26280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noFill/>
          </a:ln>
        </p:spPr>
      </p:sp>
      <p:sp>
        <p:nvSpPr>
          <p:cNvPr id="347" name="target-native-learner-1-video-badge">
            <a:extLst xmlns:a="http://schemas.openxmlformats.org/drawingml/2006/main">
              <a:ext uri="{FF2B5EF4-FFF2-40B4-BE49-F238E27FC236}">
                <a16:creationId xmlns:a16="http://schemas.microsoft.com/office/drawing/2014/main" id="{D5DC7E97-635F-4E4C-99C0-635D256D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8000" y="26505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48" name="target-native-learner-1-play">
            <a:extLst xmlns:a="http://schemas.openxmlformats.org/drawingml/2006/main">
              <a:ext uri="{FF2B5EF4-FFF2-40B4-BE49-F238E27FC236}">
                <a16:creationId xmlns:a16="http://schemas.microsoft.com/office/drawing/2014/main" id="{ED3C73B4-D294-4237-AEB2-859DBF6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206000" y="26640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9" name="target-native-learner-1-content-line-1">
            <a:extLst xmlns:a="http://schemas.openxmlformats.org/drawingml/2006/main">
              <a:ext uri="{FF2B5EF4-FFF2-40B4-BE49-F238E27FC236}">
                <a16:creationId xmlns:a16="http://schemas.microsoft.com/office/drawing/2014/main" id="{C7A723A5-CA44-43AC-817B-D9723D5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500" y="26550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50" name="target-native-learner-1-content-line-2">
            <a:extLst xmlns:a="http://schemas.openxmlformats.org/drawingml/2006/main">
              <a:ext uri="{FF2B5EF4-FFF2-40B4-BE49-F238E27FC236}">
                <a16:creationId xmlns:a16="http://schemas.microsoft.com/office/drawing/2014/main" id="{4B288329-07E8-4848-97DE-CCCF37F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500" y="26820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51" name="target-native-learner-1-computer-base">
            <a:extLst xmlns:a="http://schemas.openxmlformats.org/drawingml/2006/main">
              <a:ext uri="{FF2B5EF4-FFF2-40B4-BE49-F238E27FC236}">
                <a16:creationId xmlns:a16="http://schemas.microsoft.com/office/drawing/2014/main" id="{9FF1F37D-FBD0-4B3C-B708-796EEAD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000" y="27585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352" name="target-native-learner-1-desk">
            <a:extLst xmlns:a="http://schemas.openxmlformats.org/drawingml/2006/main">
              <a:ext uri="{FF2B5EF4-FFF2-40B4-BE49-F238E27FC236}">
                <a16:creationId xmlns:a16="http://schemas.microsoft.com/office/drawing/2014/main" id="{4BFCA2AE-3125-4163-B26F-73332AA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000" y="27900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53" name="target-native-learner-1-desk-leg-left">
            <a:extLst xmlns:a="http://schemas.openxmlformats.org/drawingml/2006/main">
              <a:ext uri="{FF2B5EF4-FFF2-40B4-BE49-F238E27FC236}">
                <a16:creationId xmlns:a16="http://schemas.microsoft.com/office/drawing/2014/main" id="{7B404CD2-2BE3-41FF-9CB7-00AB520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54" name="target-native-learner-1-desk-leg-right">
            <a:extLst xmlns:a="http://schemas.openxmlformats.org/drawingml/2006/main">
              <a:ext uri="{FF2B5EF4-FFF2-40B4-BE49-F238E27FC236}">
                <a16:creationId xmlns:a16="http://schemas.microsoft.com/office/drawing/2014/main" id="{C50281B3-6ECE-4B22-AEC1-C09F72C1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7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55" name="target-native-learner-2-chair">
            <a:extLst xmlns:a="http://schemas.openxmlformats.org/drawingml/2006/main">
              <a:ext uri="{FF2B5EF4-FFF2-40B4-BE49-F238E27FC236}">
                <a16:creationId xmlns:a16="http://schemas.microsoft.com/office/drawing/2014/main" id="{7E416823-92D5-4E1E-9336-CBF91B3A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9500" y="25380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356" name="target-native-learner-2-neck">
            <a:extLst xmlns:a="http://schemas.openxmlformats.org/drawingml/2006/main">
              <a:ext uri="{FF2B5EF4-FFF2-40B4-BE49-F238E27FC236}">
                <a16:creationId xmlns:a16="http://schemas.microsoft.com/office/drawing/2014/main" id="{F7DA7384-1427-4BFE-84E5-A48F10C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0500" y="24840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7" name="target-native-learner-2-torso">
            <a:extLst xmlns:a="http://schemas.openxmlformats.org/drawingml/2006/main">
              <a:ext uri="{FF2B5EF4-FFF2-40B4-BE49-F238E27FC236}">
                <a16:creationId xmlns:a16="http://schemas.microsoft.com/office/drawing/2014/main" id="{17F24BF8-C8B4-4DED-B651-37EB1F0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7500" y="25290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358" name="target-native-learner-2-head">
            <a:extLst xmlns:a="http://schemas.openxmlformats.org/drawingml/2006/main">
              <a:ext uri="{FF2B5EF4-FFF2-40B4-BE49-F238E27FC236}">
                <a16:creationId xmlns:a16="http://schemas.microsoft.com/office/drawing/2014/main" id="{11475AEA-00F2-4F2A-B230-8D18E907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4500" y="23805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59" name="target-native-learner-2-left-arm">
            <a:extLst xmlns:a="http://schemas.openxmlformats.org/drawingml/2006/main">
              <a:ext uri="{FF2B5EF4-FFF2-40B4-BE49-F238E27FC236}">
                <a16:creationId xmlns:a16="http://schemas.microsoft.com/office/drawing/2014/main" id="{6BE0502E-69C8-4866-AAED-C360EBDF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0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60" name="target-native-learner-2-right-arm">
            <a:extLst xmlns:a="http://schemas.openxmlformats.org/drawingml/2006/main">
              <a:ext uri="{FF2B5EF4-FFF2-40B4-BE49-F238E27FC236}">
                <a16:creationId xmlns:a16="http://schemas.microsoft.com/office/drawing/2014/main" id="{6BB127F6-E83F-4F33-8164-25009034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05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61" name="target-native-learner-2-left-hand">
            <a:extLst xmlns:a="http://schemas.openxmlformats.org/drawingml/2006/main">
              <a:ext uri="{FF2B5EF4-FFF2-40B4-BE49-F238E27FC236}">
                <a16:creationId xmlns:a16="http://schemas.microsoft.com/office/drawing/2014/main" id="{56170D87-64AE-4FC5-BD84-8C83477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0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62" name="target-native-learner-2-right-hand">
            <a:extLst xmlns:a="http://schemas.openxmlformats.org/drawingml/2006/main">
              <a:ext uri="{FF2B5EF4-FFF2-40B4-BE49-F238E27FC236}">
                <a16:creationId xmlns:a16="http://schemas.microsoft.com/office/drawing/2014/main" id="{99EEAA57-4132-4E86-AF50-74EBE40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05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63" name="target-native-learner-2-computer-frame">
            <a:extLst xmlns:a="http://schemas.openxmlformats.org/drawingml/2006/main">
              <a:ext uri="{FF2B5EF4-FFF2-40B4-BE49-F238E27FC236}">
                <a16:creationId xmlns:a16="http://schemas.microsoft.com/office/drawing/2014/main" id="{2A1FFF65-B108-4EC1-A4EE-26E4771F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000" y="26055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64" name="target-native-learner-2-computer-screen">
            <a:extLst xmlns:a="http://schemas.openxmlformats.org/drawingml/2006/main">
              <a:ext uri="{FF2B5EF4-FFF2-40B4-BE49-F238E27FC236}">
                <a16:creationId xmlns:a16="http://schemas.microsoft.com/office/drawing/2014/main" id="{86ED3094-76D0-4191-9E74-B7B61ED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0500" y="26280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noFill/>
          </a:ln>
        </p:spPr>
      </p:sp>
      <p:sp>
        <p:nvSpPr>
          <p:cNvPr id="365" name="target-native-learner-2-video-badge">
            <a:extLst xmlns:a="http://schemas.openxmlformats.org/drawingml/2006/main">
              <a:ext uri="{FF2B5EF4-FFF2-40B4-BE49-F238E27FC236}">
                <a16:creationId xmlns:a16="http://schemas.microsoft.com/office/drawing/2014/main" id="{84586AB8-B94B-46F9-A8C5-57AA58C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000" y="26505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66" name="target-native-learner-2-play">
            <a:extLst xmlns:a="http://schemas.openxmlformats.org/drawingml/2006/main">
              <a:ext uri="{FF2B5EF4-FFF2-40B4-BE49-F238E27FC236}">
                <a16:creationId xmlns:a16="http://schemas.microsoft.com/office/drawing/2014/main" id="{2D5E5A63-4138-4918-883F-9B48913F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611000" y="26640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7" name="target-native-learner-2-content-line-1">
            <a:extLst xmlns:a="http://schemas.openxmlformats.org/drawingml/2006/main">
              <a:ext uri="{FF2B5EF4-FFF2-40B4-BE49-F238E27FC236}">
                <a16:creationId xmlns:a16="http://schemas.microsoft.com/office/drawing/2014/main" id="{492E89BE-201E-4DFD-88E7-EDEAA6E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500" y="26550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68" name="target-native-learner-2-content-line-2">
            <a:extLst xmlns:a="http://schemas.openxmlformats.org/drawingml/2006/main">
              <a:ext uri="{FF2B5EF4-FFF2-40B4-BE49-F238E27FC236}">
                <a16:creationId xmlns:a16="http://schemas.microsoft.com/office/drawing/2014/main" id="{CF41F96D-6810-435D-80E8-DC32566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500" y="26820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69" name="target-native-learner-2-computer-base">
            <a:extLst xmlns:a="http://schemas.openxmlformats.org/drawingml/2006/main">
              <a:ext uri="{FF2B5EF4-FFF2-40B4-BE49-F238E27FC236}">
                <a16:creationId xmlns:a16="http://schemas.microsoft.com/office/drawing/2014/main" id="{C406E3E1-5891-4183-AEC5-BFFA772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0000" y="27585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370" name="target-native-learner-2-desk">
            <a:extLst xmlns:a="http://schemas.openxmlformats.org/drawingml/2006/main">
              <a:ext uri="{FF2B5EF4-FFF2-40B4-BE49-F238E27FC236}">
                <a16:creationId xmlns:a16="http://schemas.microsoft.com/office/drawing/2014/main" id="{2F56EF07-1C74-4091-86F3-97EC958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2000" y="27900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71" name="target-native-learner-2-desk-leg-left">
            <a:extLst xmlns:a="http://schemas.openxmlformats.org/drawingml/2006/main">
              <a:ext uri="{FF2B5EF4-FFF2-40B4-BE49-F238E27FC236}">
                <a16:creationId xmlns:a16="http://schemas.microsoft.com/office/drawing/2014/main" id="{A551671D-EDF7-48AD-9BB1-4440310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5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72" name="target-native-learner-2-desk-leg-right">
            <a:extLst xmlns:a="http://schemas.openxmlformats.org/drawingml/2006/main">
              <a:ext uri="{FF2B5EF4-FFF2-40B4-BE49-F238E27FC236}">
                <a16:creationId xmlns:a16="http://schemas.microsoft.com/office/drawing/2014/main" id="{6F3DC99B-84DA-497C-940B-EEE0FDD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27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73" name="target-native-learner-3-chair">
            <a:extLst xmlns:a="http://schemas.openxmlformats.org/drawingml/2006/main">
              <a:ext uri="{FF2B5EF4-FFF2-40B4-BE49-F238E27FC236}">
                <a16:creationId xmlns:a16="http://schemas.microsoft.com/office/drawing/2014/main" id="{3BDE069B-43CB-42E0-B2DA-4CCF7F0C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4500" y="2538000"/>
            <a:ext cx="198000" cy="2160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FE6ED"/>
          </a:solidFill>
          <a:ln xmlns:a="http://schemas.openxmlformats.org/drawingml/2006/main" w="7650">
            <a:solidFill>
              <a:srgbClr val="718096"/>
            </a:solidFill>
          </a:ln>
        </p:spPr>
      </p:sp>
      <p:sp>
        <p:nvSpPr>
          <p:cNvPr id="374" name="target-native-learner-3-neck">
            <a:extLst xmlns:a="http://schemas.openxmlformats.org/drawingml/2006/main">
              <a:ext uri="{FF2B5EF4-FFF2-40B4-BE49-F238E27FC236}">
                <a16:creationId xmlns:a16="http://schemas.microsoft.com/office/drawing/2014/main" id="{B370FFFE-A584-42E8-9AEC-DE2D693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5500" y="2484000"/>
            <a:ext cx="36000" cy="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5" name="target-native-learner-3-torso">
            <a:extLst xmlns:a="http://schemas.openxmlformats.org/drawingml/2006/main">
              <a:ext uri="{FF2B5EF4-FFF2-40B4-BE49-F238E27FC236}">
                <a16:creationId xmlns:a16="http://schemas.microsoft.com/office/drawing/2014/main" id="{95969D91-2FC1-4498-9BF5-9108CB74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500" y="2529000"/>
            <a:ext cx="162000" cy="1755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550">
            <a:solidFill>
              <a:srgbClr val="173453"/>
            </a:solidFill>
          </a:ln>
        </p:spPr>
      </p:sp>
      <p:sp>
        <p:nvSpPr>
          <p:cNvPr id="376" name="target-native-learner-3-head">
            <a:extLst xmlns:a="http://schemas.openxmlformats.org/drawingml/2006/main">
              <a:ext uri="{FF2B5EF4-FFF2-40B4-BE49-F238E27FC236}">
                <a16:creationId xmlns:a16="http://schemas.microsoft.com/office/drawing/2014/main" id="{739BEF92-C108-48FE-8494-951649A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9500" y="2380500"/>
            <a:ext cx="108000" cy="12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77" name="target-native-learner-3-left-arm">
            <a:extLst xmlns:a="http://schemas.openxmlformats.org/drawingml/2006/main">
              <a:ext uri="{FF2B5EF4-FFF2-40B4-BE49-F238E27FC236}">
                <a16:creationId xmlns:a16="http://schemas.microsoft.com/office/drawing/2014/main" id="{6B411252-9B0A-415C-BA58-E137DCE5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0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78" name="target-native-learner-3-right-arm">
            <a:extLst xmlns:a="http://schemas.openxmlformats.org/drawingml/2006/main">
              <a:ext uri="{FF2B5EF4-FFF2-40B4-BE49-F238E27FC236}">
                <a16:creationId xmlns:a16="http://schemas.microsoft.com/office/drawing/2014/main" id="{5FBB082E-EB2A-43E1-B7D9-146AEB3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500" y="2560500"/>
            <a:ext cx="40500" cy="13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4EA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79" name="target-native-learner-3-left-hand">
            <a:extLst xmlns:a="http://schemas.openxmlformats.org/drawingml/2006/main">
              <a:ext uri="{FF2B5EF4-FFF2-40B4-BE49-F238E27FC236}">
                <a16:creationId xmlns:a16="http://schemas.microsoft.com/office/drawing/2014/main" id="{6E730D47-BED5-48AC-B1F1-755F88C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0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80" name="target-native-learner-3-right-hand">
            <a:extLst xmlns:a="http://schemas.openxmlformats.org/drawingml/2006/main">
              <a:ext uri="{FF2B5EF4-FFF2-40B4-BE49-F238E27FC236}">
                <a16:creationId xmlns:a16="http://schemas.microsoft.com/office/drawing/2014/main" id="{3AF90C3A-F990-4296-A256-F9B2DF7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500" y="2673000"/>
            <a:ext cx="40500" cy="3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750">
            <a:solidFill>
              <a:srgbClr val="173453"/>
            </a:solidFill>
          </a:ln>
        </p:spPr>
      </p:sp>
      <p:sp>
        <p:nvSpPr>
          <p:cNvPr id="381" name="target-native-learner-3-computer-frame">
            <a:extLst xmlns:a="http://schemas.openxmlformats.org/drawingml/2006/main">
              <a:ext uri="{FF2B5EF4-FFF2-40B4-BE49-F238E27FC236}">
                <a16:creationId xmlns:a16="http://schemas.microsoft.com/office/drawing/2014/main" id="{E00AE948-F175-40C7-91E8-D31ABD5C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3000" y="2605500"/>
            <a:ext cx="261000" cy="1530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50">
            <a:solidFill>
              <a:srgbClr val="173453"/>
            </a:solidFill>
          </a:ln>
        </p:spPr>
      </p:sp>
      <p:sp>
        <p:nvSpPr>
          <p:cNvPr id="382" name="target-native-learner-3-computer-screen">
            <a:extLst xmlns:a="http://schemas.openxmlformats.org/drawingml/2006/main">
              <a:ext uri="{FF2B5EF4-FFF2-40B4-BE49-F238E27FC236}">
                <a16:creationId xmlns:a16="http://schemas.microsoft.com/office/drawing/2014/main" id="{A46A1607-538F-443A-9EEF-840E563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00" y="2628000"/>
            <a:ext cx="216000" cy="1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noFill/>
          </a:ln>
        </p:spPr>
      </p:sp>
      <p:sp>
        <p:nvSpPr>
          <p:cNvPr id="383" name="target-native-learner-3-video-badge">
            <a:extLst xmlns:a="http://schemas.openxmlformats.org/drawingml/2006/main">
              <a:ext uri="{FF2B5EF4-FFF2-40B4-BE49-F238E27FC236}">
                <a16:creationId xmlns:a16="http://schemas.microsoft.com/office/drawing/2014/main" id="{D8B89015-2DEA-42C2-ACF0-9D5632D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8000" y="2650500"/>
            <a:ext cx="58500" cy="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84" name="target-native-learner-3-play">
            <a:extLst xmlns:a="http://schemas.openxmlformats.org/drawingml/2006/main">
              <a:ext uri="{FF2B5EF4-FFF2-40B4-BE49-F238E27FC236}">
                <a16:creationId xmlns:a16="http://schemas.microsoft.com/office/drawing/2014/main" id="{41036127-9917-4728-A7A7-5C3FC1E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2016000" y="2664000"/>
            <a:ext cx="22500" cy="31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5" name="target-native-learner-3-content-line-1">
            <a:extLst xmlns:a="http://schemas.openxmlformats.org/drawingml/2006/main">
              <a:ext uri="{FF2B5EF4-FFF2-40B4-BE49-F238E27FC236}">
                <a16:creationId xmlns:a16="http://schemas.microsoft.com/office/drawing/2014/main" id="{7C404BF4-69D4-48BF-9C53-C9CC9550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3500" y="2655000"/>
            <a:ext cx="765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86" name="target-native-learner-3-content-line-2">
            <a:extLst xmlns:a="http://schemas.openxmlformats.org/drawingml/2006/main">
              <a:ext uri="{FF2B5EF4-FFF2-40B4-BE49-F238E27FC236}">
                <a16:creationId xmlns:a16="http://schemas.microsoft.com/office/drawing/2014/main" id="{0741B10B-BBD6-4A48-866F-431655B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3500" y="2682000"/>
            <a:ext cx="54000" cy="1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387" name="target-native-learner-3-computer-base">
            <a:extLst xmlns:a="http://schemas.openxmlformats.org/drawingml/2006/main">
              <a:ext uri="{FF2B5EF4-FFF2-40B4-BE49-F238E27FC236}">
                <a16:creationId xmlns:a16="http://schemas.microsoft.com/office/drawing/2014/main" id="{975F8259-AC04-4CE4-8124-0706C053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5000" y="2758500"/>
            <a:ext cx="297000" cy="1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FE9"/>
          </a:solidFill>
          <a:ln xmlns:a="http://schemas.openxmlformats.org/drawingml/2006/main" w="7650">
            <a:solidFill>
              <a:srgbClr val="173453"/>
            </a:solidFill>
          </a:ln>
        </p:spPr>
      </p:sp>
      <p:sp>
        <p:nvSpPr>
          <p:cNvPr id="388" name="target-native-learner-3-desk">
            <a:extLst xmlns:a="http://schemas.openxmlformats.org/drawingml/2006/main">
              <a:ext uri="{FF2B5EF4-FFF2-40B4-BE49-F238E27FC236}">
                <a16:creationId xmlns:a16="http://schemas.microsoft.com/office/drawing/2014/main" id="{F8DB66F3-B798-4857-959A-FE216F16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7000" y="2790000"/>
            <a:ext cx="333000" cy="1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8100">
            <a:solidFill>
              <a:srgbClr val="173453"/>
            </a:solidFill>
          </a:ln>
        </p:spPr>
      </p:sp>
      <p:sp>
        <p:nvSpPr>
          <p:cNvPr id="389" name="target-native-learner-3-desk-leg-left">
            <a:extLst xmlns:a="http://schemas.openxmlformats.org/drawingml/2006/main">
              <a:ext uri="{FF2B5EF4-FFF2-40B4-BE49-F238E27FC236}">
                <a16:creationId xmlns:a16="http://schemas.microsoft.com/office/drawing/2014/main" id="{A3B2699E-2CDA-462E-B3BB-6FBDD11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5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390" name="target-native-learner-3-desk-leg-right">
            <a:extLst xmlns:a="http://schemas.openxmlformats.org/drawingml/2006/main">
              <a:ext uri="{FF2B5EF4-FFF2-40B4-BE49-F238E27FC236}">
                <a16:creationId xmlns:a16="http://schemas.microsoft.com/office/drawing/2014/main" id="{28A5888F-8088-49E0-A0C0-B820B29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7700" y="2808000"/>
            <a:ext cx="10800" cy="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noFill/>
          </a:ln>
        </p:spPr>
      </p:sp>
      <p:sp>
        <p:nvSpPr>
          <p:cNvPr id="66" name="target-learners">
            <a:extLst xmlns:a="http://schemas.openxmlformats.org/drawingml/2006/main">
              <a:ext uri="{FF2B5EF4-FFF2-40B4-BE49-F238E27FC236}">
                <a16:creationId xmlns:a16="http://schemas.microsoft.com/office/drawing/2014/main" id="{0ADB9AC2-3E00-429F-B329-CFBD210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0" y="2907000"/>
            <a:ext cx="1233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Target learners</a:t>
            </a:r>
          </a:p>
        </p:txBody>
      </p:sp>
      <p:sp>
        <p:nvSpPr>
          <p:cNvPr id="67" name="target-probabilities">
            <a:extLst xmlns:a="http://schemas.openxmlformats.org/drawingml/2006/main">
              <a:ext uri="{FF2B5EF4-FFF2-40B4-BE49-F238E27FC236}">
                <a16:creationId xmlns:a16="http://schemas.microsoft.com/office/drawing/2014/main" id="{D17A1452-E40A-4D46-8F47-AB248B7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6000"/>
            <a:ext cx="1071000" cy="3060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68" name="target-probability-label">
            <a:extLst xmlns:a="http://schemas.openxmlformats.org/drawingml/2006/main">
              <a:ext uri="{FF2B5EF4-FFF2-40B4-BE49-F238E27FC236}">
                <a16:creationId xmlns:a16="http://schemas.microsoft.com/office/drawing/2014/main" id="{CD93C659-C5F0-4809-AA5B-18FCEA9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00" y="3109500"/>
            <a:ext cx="981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Raw probabilities</a:t>
            </a:r>
          </a:p>
        </p:txBody>
      </p:sp>
      <p:sp>
        <p:nvSpPr>
          <p:cNvPr id="69" name="target-probability-symbol">
            <a:extLst xmlns:a="http://schemas.openxmlformats.org/drawingml/2006/main">
              <a:ext uri="{FF2B5EF4-FFF2-40B4-BE49-F238E27FC236}">
                <a16:creationId xmlns:a16="http://schemas.microsoft.com/office/drawing/2014/main" id="{6EEF6E53-AF76-44E5-A069-0C9B65E6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00" y="3258000"/>
            <a:ext cx="981000" cy="1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70" name="route-anchor-23">
            <a:extLst xmlns:a="http://schemas.openxmlformats.org/drawingml/2006/main">
              <a:ext uri="{FF2B5EF4-FFF2-40B4-BE49-F238E27FC236}">
                <a16:creationId xmlns:a16="http://schemas.microsoft.com/office/drawing/2014/main" id="{10BE2C3F-6467-4A1A-92C3-B798DC9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route-anchor-24">
            <a:extLst xmlns:a="http://schemas.openxmlformats.org/drawingml/2006/main">
              <a:ext uri="{FF2B5EF4-FFF2-40B4-BE49-F238E27FC236}">
                <a16:creationId xmlns:a16="http://schemas.microsoft.com/office/drawing/2014/main" id="{CF7841CB-4119-46E7-A5E6-E4C5396B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route-anchor-25">
            <a:extLst xmlns:a="http://schemas.openxmlformats.org/drawingml/2006/main">
              <a:ext uri="{FF2B5EF4-FFF2-40B4-BE49-F238E27FC236}">
                <a16:creationId xmlns:a16="http://schemas.microsoft.com/office/drawing/2014/main" id="{9D57EE0B-BEB6-4FD9-B312-E61545FE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route-anchor-26">
            <a:extLst xmlns:a="http://schemas.openxmlformats.org/drawingml/2006/main">
              <a:ext uri="{FF2B5EF4-FFF2-40B4-BE49-F238E27FC236}">
                <a16:creationId xmlns:a16="http://schemas.microsoft.com/office/drawing/2014/main" id="{E64B6F4A-0805-4FF5-ACEC-3233FA69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23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route-anchor-27">
            <a:extLst xmlns:a="http://schemas.openxmlformats.org/drawingml/2006/main">
              <a:ext uri="{FF2B5EF4-FFF2-40B4-BE49-F238E27FC236}">
                <a16:creationId xmlns:a16="http://schemas.microsoft.com/office/drawing/2014/main" id="{2771E278-0977-41EA-A797-6798669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100" y="23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route-anchor-28">
            <a:extLst xmlns:a="http://schemas.openxmlformats.org/drawingml/2006/main">
              <a:ext uri="{FF2B5EF4-FFF2-40B4-BE49-F238E27FC236}">
                <a16:creationId xmlns:a16="http://schemas.microsoft.com/office/drawing/2014/main" id="{A25826C4-CC8F-48DD-8668-F0908F3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24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route-anchor-29">
            <a:extLst xmlns:a="http://schemas.openxmlformats.org/drawingml/2006/main">
              <a:ext uri="{FF2B5EF4-FFF2-40B4-BE49-F238E27FC236}">
                <a16:creationId xmlns:a16="http://schemas.microsoft.com/office/drawing/2014/main" id="{7B839EC8-8BBA-4BF3-88F4-16CEB3B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36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route-anchor-30">
            <a:extLst xmlns:a="http://schemas.openxmlformats.org/drawingml/2006/main">
              <a:ext uri="{FF2B5EF4-FFF2-40B4-BE49-F238E27FC236}">
                <a16:creationId xmlns:a16="http://schemas.microsoft.com/office/drawing/2014/main" id="{B517B1C2-3F96-407C-83C4-D49AD1D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100" y="336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branch-31">
            <a:extLst xmlns:a="http://schemas.openxmlformats.org/drawingml/2006/main">
              <a:ext uri="{FF2B5EF4-FFF2-40B4-BE49-F238E27FC236}">
                <a16:creationId xmlns:a16="http://schemas.microsoft.com/office/drawing/2014/main" id="{C52A86BF-E2E6-4C1F-A5AB-661D5DBF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500" y="3235500"/>
            <a:ext cx="27000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9"/>
          </a:solidFill>
          <a:ln xmlns:a="http://schemas.openxmlformats.org/drawingml/2006/main" w="0">
            <a:solidFill>
              <a:srgbClr val="202C39"/>
            </a:solidFill>
          </a:ln>
        </p:spPr>
      </p:sp>
      <p:sp>
        <p:nvSpPr>
          <p:cNvPr id="84" name="target-historical-mapping">
            <a:extLst xmlns:a="http://schemas.openxmlformats.org/drawingml/2006/main">
              <a:ext uri="{FF2B5EF4-FFF2-40B4-BE49-F238E27FC236}">
                <a16:creationId xmlns:a16="http://schemas.microsoft.com/office/drawing/2014/main" id="{08D2AF7C-33BA-4EBE-B952-6D591D1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00" y="2205000"/>
            <a:ext cx="1170000" cy="3780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6"/>
          </a:solidFill>
          <a:ln xmlns:a="http://schemas.openxmlformats.org/drawingml/2006/main" w="6975">
            <a:solidFill>
              <a:srgbClr val="D95F0E"/>
            </a:solidFill>
            <a:prstDash val="solid"/>
          </a:ln>
        </p:spPr>
      </p:sp>
      <p:sp>
        <p:nvSpPr>
          <p:cNvPr id="85" name="target-historical-label">
            <a:extLst xmlns:a="http://schemas.openxmlformats.org/drawingml/2006/main">
              <a:ext uri="{FF2B5EF4-FFF2-40B4-BE49-F238E27FC236}">
                <a16:creationId xmlns:a16="http://schemas.microsoft.com/office/drawing/2014/main" id="{2F46025B-D279-4697-B00C-5402CCC2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2241000"/>
            <a:ext cx="1089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Historical mapping</a:t>
            </a:r>
          </a:p>
        </p:txBody>
      </p:sp>
      <p:sp>
        <p:nvSpPr>
          <p:cNvPr id="86" name="target-historical-symbol">
            <a:extLst xmlns:a="http://schemas.openxmlformats.org/drawingml/2006/main">
              <a:ext uri="{FF2B5EF4-FFF2-40B4-BE49-F238E27FC236}">
                <a16:creationId xmlns:a16="http://schemas.microsoft.com/office/drawing/2014/main" id="{079A6206-A232-4280-A5A3-362202D8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2407500"/>
            <a:ext cx="1089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7" name="target-oof-back2">
            <a:extLst xmlns:a="http://schemas.openxmlformats.org/drawingml/2006/main">
              <a:ext uri="{FF2B5EF4-FFF2-40B4-BE49-F238E27FC236}">
                <a16:creationId xmlns:a16="http://schemas.microsoft.com/office/drawing/2014/main" id="{4BE11E6D-4725-4869-BD52-36A1EF51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000" y="3141000"/>
            <a:ext cx="1170000" cy="3780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88" name="target-oof-back1">
            <a:extLst xmlns:a="http://schemas.openxmlformats.org/drawingml/2006/main">
              <a:ext uri="{FF2B5EF4-FFF2-40B4-BE49-F238E27FC236}">
                <a16:creationId xmlns:a16="http://schemas.microsoft.com/office/drawing/2014/main" id="{401FF85D-B996-448B-A0EC-A94A91C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0" y="3159000"/>
            <a:ext cx="1170000" cy="3780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6975">
            <a:solidFill>
              <a:srgbClr val="B5BEC8"/>
            </a:solidFill>
            <a:prstDash val="solid"/>
          </a:ln>
        </p:spPr>
      </p:sp>
      <p:sp>
        <p:nvSpPr>
          <p:cNvPr id="89" name="target-oof">
            <a:extLst xmlns:a="http://schemas.openxmlformats.org/drawingml/2006/main">
              <a:ext uri="{FF2B5EF4-FFF2-40B4-BE49-F238E27FC236}">
                <a16:creationId xmlns:a16="http://schemas.microsoft.com/office/drawing/2014/main" id="{84819975-2DA7-4AD7-B9AE-DF8E9F57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00" y="3177000"/>
            <a:ext cx="1170000" cy="3780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6975">
            <a:solidFill>
              <a:srgbClr val="2166AC"/>
            </a:solidFill>
            <a:prstDash val="solid"/>
          </a:ln>
        </p:spPr>
      </p:sp>
      <p:sp>
        <p:nvSpPr>
          <p:cNvPr id="90" name="target-oof-label">
            <a:extLst xmlns:a="http://schemas.openxmlformats.org/drawingml/2006/main">
              <a:ext uri="{FF2B5EF4-FFF2-40B4-BE49-F238E27FC236}">
                <a16:creationId xmlns:a16="http://schemas.microsoft.com/office/drawing/2014/main" id="{76365705-7254-4F81-84DC-3ABE9FE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3213000"/>
            <a:ext cx="1089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Target OOF</a:t>
            </a:r>
          </a:p>
        </p:txBody>
      </p:sp>
      <p:sp>
        <p:nvSpPr>
          <p:cNvPr id="91" name="target-oof-symbol">
            <a:extLst xmlns:a="http://schemas.openxmlformats.org/drawingml/2006/main">
              <a:ext uri="{FF2B5EF4-FFF2-40B4-BE49-F238E27FC236}">
                <a16:creationId xmlns:a16="http://schemas.microsoft.com/office/drawing/2014/main" id="{27CEFA40-D410-4F1E-BA6F-0931CF9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500" y="3379500"/>
            <a:ext cx="1089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560" b="0" i="0" baseline="3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OOF</a:t>
            </a:r>
          </a:p>
        </p:txBody>
      </p:sp>
      <p:sp>
        <p:nvSpPr>
          <p:cNvPr id="92" name="route-anchor-32">
            <a:extLst xmlns:a="http://schemas.openxmlformats.org/drawingml/2006/main">
              <a:ext uri="{FF2B5EF4-FFF2-40B4-BE49-F238E27FC236}">
                <a16:creationId xmlns:a16="http://schemas.microsoft.com/office/drawing/2014/main" id="{10D9C4B3-6C8E-424E-A29F-C137446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00" y="23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route-anchor-33">
            <a:extLst xmlns:a="http://schemas.openxmlformats.org/drawingml/2006/main">
              <a:ext uri="{FF2B5EF4-FFF2-40B4-BE49-F238E27FC236}">
                <a16:creationId xmlns:a16="http://schemas.microsoft.com/office/drawing/2014/main" id="{DB9E8F68-0024-4503-9257-0003C414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100" y="239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route-anchor-34">
            <a:extLst xmlns:a="http://schemas.openxmlformats.org/drawingml/2006/main">
              <a:ext uri="{FF2B5EF4-FFF2-40B4-BE49-F238E27FC236}">
                <a16:creationId xmlns:a16="http://schemas.microsoft.com/office/drawing/2014/main" id="{82AC976D-6DB9-41A9-A442-B648B5D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100" y="1511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route-anchor-35">
            <a:extLst xmlns:a="http://schemas.openxmlformats.org/drawingml/2006/main">
              <a:ext uri="{FF2B5EF4-FFF2-40B4-BE49-F238E27FC236}">
                <a16:creationId xmlns:a16="http://schemas.microsoft.com/office/drawing/2014/main" id="{B394B7D3-ECE2-4988-87EA-DA15CF85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100" y="1511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historical-output-label">
            <a:extLst xmlns:a="http://schemas.openxmlformats.org/drawingml/2006/main">
              <a:ext uri="{FF2B5EF4-FFF2-40B4-BE49-F238E27FC236}">
                <a16:creationId xmlns:a16="http://schemas.microsoft.com/office/drawing/2014/main" id="{2BF73D2A-C712-482A-9D12-32DAED46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500" y="2209500"/>
            <a:ext cx="765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S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(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00" name="route-anchor-36">
            <a:extLst xmlns:a="http://schemas.openxmlformats.org/drawingml/2006/main">
              <a:ext uri="{FF2B5EF4-FFF2-40B4-BE49-F238E27FC236}">
                <a16:creationId xmlns:a16="http://schemas.microsoft.com/office/drawing/2014/main" id="{0962031C-4BFD-476A-99D7-5726493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00" y="336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route-anchor-37">
            <a:extLst xmlns:a="http://schemas.openxmlformats.org/drawingml/2006/main">
              <a:ext uri="{FF2B5EF4-FFF2-40B4-BE49-F238E27FC236}">
                <a16:creationId xmlns:a16="http://schemas.microsoft.com/office/drawing/2014/main" id="{E34E34EE-7097-4BDE-B524-2DD7CDD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100" y="336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route-anchor-38">
            <a:extLst xmlns:a="http://schemas.openxmlformats.org/drawingml/2006/main">
              <a:ext uri="{FF2B5EF4-FFF2-40B4-BE49-F238E27FC236}">
                <a16:creationId xmlns:a16="http://schemas.microsoft.com/office/drawing/2014/main" id="{92D5F738-0E8F-436C-95F5-38351E9F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100" y="318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route-anchor-39">
            <a:extLst xmlns:a="http://schemas.openxmlformats.org/drawingml/2006/main">
              <a:ext uri="{FF2B5EF4-FFF2-40B4-BE49-F238E27FC236}">
                <a16:creationId xmlns:a16="http://schemas.microsoft.com/office/drawing/2014/main" id="{2C8AE111-1CC8-4150-8283-C1A4B9A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100" y="318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target-oof-output-label">
            <a:extLst xmlns:a="http://schemas.openxmlformats.org/drawingml/2006/main">
              <a:ext uri="{FF2B5EF4-FFF2-40B4-BE49-F238E27FC236}">
                <a16:creationId xmlns:a16="http://schemas.microsoft.com/office/drawing/2014/main" id="{F622002B-61FA-431D-9166-2286D96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000" y="3181500"/>
            <a:ext cx="792000" cy="1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C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560" b="0" i="0" baseline="3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OOF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(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p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08" name="historical-target-gain">
            <a:extLst xmlns:a="http://schemas.openxmlformats.org/drawingml/2006/main">
              <a:ext uri="{FF2B5EF4-FFF2-40B4-BE49-F238E27FC236}">
                <a16:creationId xmlns:a16="http://schemas.microsoft.com/office/drawing/2014/main" id="{D43AA185-6B3B-4824-A751-D28DFD8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00" y="1350000"/>
            <a:ext cx="1035000" cy="324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2E6"/>
          </a:solidFill>
          <a:ln xmlns:a="http://schemas.openxmlformats.org/drawingml/2006/main" w="6975">
            <a:solidFill>
              <a:srgbClr val="D95F0E"/>
            </a:solidFill>
            <a:prstDash val="solid"/>
          </a:ln>
        </p:spPr>
      </p:sp>
      <p:sp>
        <p:nvSpPr>
          <p:cNvPr id="109" name="historical-target-gain-symbol">
            <a:extLst xmlns:a="http://schemas.openxmlformats.org/drawingml/2006/main">
              <a:ext uri="{FF2B5EF4-FFF2-40B4-BE49-F238E27FC236}">
                <a16:creationId xmlns:a16="http://schemas.microsoft.com/office/drawing/2014/main" id="{15E60BB6-69F4-40A3-A9A1-636715C1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1368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G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10" name="historical-target-gain-label">
            <a:extLst xmlns:a="http://schemas.openxmlformats.org/drawingml/2006/main">
              <a:ext uri="{FF2B5EF4-FFF2-40B4-BE49-F238E27FC236}">
                <a16:creationId xmlns:a16="http://schemas.microsoft.com/office/drawing/2014/main" id="{3B995C0A-F14E-4120-8154-74FF4AB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1521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Historical transfer</a:t>
            </a:r>
          </a:p>
        </p:txBody>
      </p:sp>
      <p:sp>
        <p:nvSpPr>
          <p:cNvPr id="111" name="adapted-target-gain">
            <a:extLst xmlns:a="http://schemas.openxmlformats.org/drawingml/2006/main">
              <a:ext uri="{FF2B5EF4-FFF2-40B4-BE49-F238E27FC236}">
                <a16:creationId xmlns:a16="http://schemas.microsoft.com/office/drawing/2014/main" id="{07F7FBDC-BF69-46D6-ACFF-4E7569B2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00" y="3024000"/>
            <a:ext cx="1035000" cy="324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6975">
            <a:solidFill>
              <a:srgbClr val="2166AC"/>
            </a:solidFill>
            <a:prstDash val="solid"/>
          </a:ln>
        </p:spPr>
      </p:sp>
      <p:sp>
        <p:nvSpPr>
          <p:cNvPr id="112" name="adapted-target-gain-symbol">
            <a:extLst xmlns:a="http://schemas.openxmlformats.org/drawingml/2006/main">
              <a:ext uri="{FF2B5EF4-FFF2-40B4-BE49-F238E27FC236}">
                <a16:creationId xmlns:a16="http://schemas.microsoft.com/office/drawing/2014/main" id="{A942E98C-95F4-459C-AFDD-BF93CBC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3042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G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560" b="0" i="0" baseline="3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13" name="adapted-target-gain-label">
            <a:extLst xmlns:a="http://schemas.openxmlformats.org/drawingml/2006/main">
              <a:ext uri="{FF2B5EF4-FFF2-40B4-BE49-F238E27FC236}">
                <a16:creationId xmlns:a16="http://schemas.microsoft.com/office/drawing/2014/main" id="{283E9B43-FB1F-41C5-BFAF-247F93C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3195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Target adaptation</a:t>
            </a:r>
          </a:p>
        </p:txBody>
      </p:sp>
      <p:sp>
        <p:nvSpPr>
          <p:cNvPr id="114" name="target-adaptation-gap">
            <a:extLst xmlns:a="http://schemas.openxmlformats.org/drawingml/2006/main">
              <a:ext uri="{FF2B5EF4-FFF2-40B4-BE49-F238E27FC236}">
                <a16:creationId xmlns:a16="http://schemas.microsoft.com/office/drawing/2014/main" id="{43D7A41C-C125-4849-9E36-035301E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00" y="2169000"/>
            <a:ext cx="1035000" cy="324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6975">
            <a:solidFill>
              <a:srgbClr val="173453"/>
            </a:solidFill>
            <a:prstDash val="solid"/>
          </a:ln>
        </p:spPr>
      </p:sp>
      <p:sp>
        <p:nvSpPr>
          <p:cNvPr id="115" name="gap-equation">
            <a:extLst xmlns:a="http://schemas.openxmlformats.org/drawingml/2006/main">
              <a:ext uri="{FF2B5EF4-FFF2-40B4-BE49-F238E27FC236}">
                <a16:creationId xmlns:a16="http://schemas.microsoft.com/office/drawing/2014/main" id="{CB18E060-0629-4A6B-935A-AE6CBE4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2187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A</a:t>
            </a:r>
            <a:r>
              <a:rPr sz="800" b="0" i="0">
                <a:solidFill>
                  <a:srgbClr val="202C39"/>
                </a:solidFill>
                <a:latin typeface="Arial"/>
                <a:ea typeface="Arial"/>
                <a:cs typeface="Arial"/>
              </a:rPr>
              <a:t> = 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G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  <a:r>
              <a:rPr sz="560" b="0" i="0" baseline="3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*</a:t>
            </a:r>
            <a:r>
              <a:rPr sz="800" b="0" i="0">
                <a:solidFill>
                  <a:srgbClr val="202C39"/>
                </a:solidFill>
                <a:latin typeface="Arial"/>
                <a:ea typeface="Arial"/>
                <a:cs typeface="Arial"/>
              </a:rPr>
              <a:t> − 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G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16" name="gap-label">
            <a:extLst xmlns:a="http://schemas.openxmlformats.org/drawingml/2006/main">
              <a:ext uri="{FF2B5EF4-FFF2-40B4-BE49-F238E27FC236}">
                <a16:creationId xmlns:a16="http://schemas.microsoft.com/office/drawing/2014/main" id="{E2DBC7F7-997E-4ED3-9D2E-64E62B6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00" y="2340000"/>
            <a:ext cx="945000" cy="1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C39"/>
                </a:solidFill>
                <a:latin typeface="Arial"/>
                <a:ea typeface="Arial"/>
                <a:cs typeface="Arial"/>
              </a:rPr>
              <a:t>Adaptation gap</a:t>
            </a:r>
          </a:p>
        </p:txBody>
      </p:sp>
      <p:sp>
        <p:nvSpPr>
          <p:cNvPr id="117" name="route-anchor-40">
            <a:extLst xmlns:a="http://schemas.openxmlformats.org/drawingml/2006/main">
              <a:ext uri="{FF2B5EF4-FFF2-40B4-BE49-F238E27FC236}">
                <a16:creationId xmlns:a16="http://schemas.microsoft.com/office/drawing/2014/main" id="{16B6CEA3-20C3-4E7C-8CF1-9D8CFD1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600" y="167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route-anchor-41">
            <a:extLst xmlns:a="http://schemas.openxmlformats.org/drawingml/2006/main">
              <a:ext uri="{FF2B5EF4-FFF2-40B4-BE49-F238E27FC236}">
                <a16:creationId xmlns:a16="http://schemas.microsoft.com/office/drawing/2014/main" id="{14E392B6-FFCE-4291-806D-268F01D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600" y="2168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route-anchor-42">
            <a:extLst xmlns:a="http://schemas.openxmlformats.org/drawingml/2006/main">
              <a:ext uri="{FF2B5EF4-FFF2-40B4-BE49-F238E27FC236}">
                <a16:creationId xmlns:a16="http://schemas.microsoft.com/office/drawing/2014/main" id="{CDC83D12-63A8-4EE6-A165-CBE4BBB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600" y="3023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route-anchor-43">
            <a:extLst xmlns:a="http://schemas.openxmlformats.org/drawingml/2006/main">
              <a:ext uri="{FF2B5EF4-FFF2-40B4-BE49-F238E27FC236}">
                <a16:creationId xmlns:a16="http://schemas.microsoft.com/office/drawing/2014/main" id="{BAE02BE3-E0E3-49C4-AA2D-FC6DFBD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600" y="2492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target-outcomes">
            <a:extLst xmlns:a="http://schemas.openxmlformats.org/drawingml/2006/main">
              <a:ext uri="{FF2B5EF4-FFF2-40B4-BE49-F238E27FC236}">
                <a16:creationId xmlns:a16="http://schemas.microsoft.com/office/drawing/2014/main" id="{32D9CFD9-0DC7-4DAC-B401-DFC61446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000"/>
            <a:ext cx="1071000" cy="22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975">
            <a:solidFill>
              <a:srgbClr val="718096"/>
            </a:solidFill>
            <a:prstDash val="dash"/>
          </a:ln>
        </p:spPr>
      </p:sp>
      <p:sp>
        <p:nvSpPr>
          <p:cNvPr id="124" name="target-outcome-label">
            <a:extLst xmlns:a="http://schemas.openxmlformats.org/drawingml/2006/main">
              <a:ext uri="{FF2B5EF4-FFF2-40B4-BE49-F238E27FC236}">
                <a16:creationId xmlns:a16="http://schemas.microsoft.com/office/drawing/2014/main" id="{64A23FEC-DD12-42B2-A6D6-191A34A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00" y="3636000"/>
            <a:ext cx="972000" cy="1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202C39"/>
                </a:solidFill>
                <a:latin typeface="Arial"/>
                <a:ea typeface="Arial"/>
                <a:cs typeface="Arial"/>
              </a:rPr>
              <a:t>Outcomes  </a:t>
            </a:r>
            <a:r>
              <a:rPr sz="800" b="0" i="1">
                <a:solidFill>
                  <a:srgbClr val="202C39"/>
                </a:solidFill>
                <a:latin typeface="Arial"/>
                <a:ea typeface="Arial"/>
                <a:cs typeface="Arial"/>
              </a:rPr>
              <a:t>y</a:t>
            </a:r>
            <a:r>
              <a:rPr sz="560" b="0" i="0" baseline="-25000">
                <a:solidFill>
                  <a:srgbClr val="202C3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5" name="route-anchor-44">
            <a:extLst xmlns:a="http://schemas.openxmlformats.org/drawingml/2006/main">
              <a:ext uri="{FF2B5EF4-FFF2-40B4-BE49-F238E27FC236}">
                <a16:creationId xmlns:a16="http://schemas.microsoft.com/office/drawing/2014/main" id="{56FA5F82-4E49-4E54-A712-5A73B86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route-anchor-45">
            <a:extLst xmlns:a="http://schemas.openxmlformats.org/drawingml/2006/main">
              <a:ext uri="{FF2B5EF4-FFF2-40B4-BE49-F238E27FC236}">
                <a16:creationId xmlns:a16="http://schemas.microsoft.com/office/drawing/2014/main" id="{234AE126-12B8-40DC-825A-0134B0D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route-anchor-46">
            <a:extLst xmlns:a="http://schemas.openxmlformats.org/drawingml/2006/main">
              <a:ext uri="{FF2B5EF4-FFF2-40B4-BE49-F238E27FC236}">
                <a16:creationId xmlns:a16="http://schemas.microsoft.com/office/drawing/2014/main" id="{393EE276-107C-4FB5-8293-3E27F30B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route-anchor-47">
            <a:extLst xmlns:a="http://schemas.openxmlformats.org/drawingml/2006/main">
              <a:ext uri="{FF2B5EF4-FFF2-40B4-BE49-F238E27FC236}">
                <a16:creationId xmlns:a16="http://schemas.microsoft.com/office/drawing/2014/main" id="{99C6D2D3-5909-4C09-B4E7-0F08D1F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route-anchor-48">
            <a:extLst xmlns:a="http://schemas.openxmlformats.org/drawingml/2006/main">
              <a:ext uri="{FF2B5EF4-FFF2-40B4-BE49-F238E27FC236}">
                <a16:creationId xmlns:a16="http://schemas.microsoft.com/office/drawing/2014/main" id="{F1624B5E-2F30-4A26-B969-2EDE6E3E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00" y="3554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route-anchor-49">
            <a:extLst xmlns:a="http://schemas.openxmlformats.org/drawingml/2006/main">
              <a:ext uri="{FF2B5EF4-FFF2-40B4-BE49-F238E27FC236}">
                <a16:creationId xmlns:a16="http://schemas.microsoft.com/office/drawing/2014/main" id="{7FD94C61-ABCE-4072-BF45-FB32529E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route-anchor-50">
            <a:extLst xmlns:a="http://schemas.openxmlformats.org/drawingml/2006/main">
              <a:ext uri="{FF2B5EF4-FFF2-40B4-BE49-F238E27FC236}">
                <a16:creationId xmlns:a16="http://schemas.microsoft.com/office/drawing/2014/main" id="{07EB2AB2-79D7-4722-900D-F37FFC4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100" y="37116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route-anchor-51">
            <a:extLst xmlns:a="http://schemas.openxmlformats.org/drawingml/2006/main">
              <a:ext uri="{FF2B5EF4-FFF2-40B4-BE49-F238E27FC236}">
                <a16:creationId xmlns:a16="http://schemas.microsoft.com/office/drawing/2014/main" id="{B29EF0CF-55DE-487B-BB2F-7ABF49DD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100" y="363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route-anchor-52">
            <a:extLst xmlns:a="http://schemas.openxmlformats.org/drawingml/2006/main">
              <a:ext uri="{FF2B5EF4-FFF2-40B4-BE49-F238E27FC236}">
                <a16:creationId xmlns:a16="http://schemas.microsoft.com/office/drawing/2014/main" id="{2336F146-976D-4B8E-9617-DD9FEF4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00" y="3635100"/>
            <a:ext cx="1800" cy="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branch-53">
            <a:extLst xmlns:a="http://schemas.openxmlformats.org/drawingml/2006/main">
              <a:ext uri="{FF2B5EF4-FFF2-40B4-BE49-F238E27FC236}">
                <a16:creationId xmlns:a16="http://schemas.microsoft.com/office/drawing/2014/main" id="{D406A481-766D-45BF-91E0-50215A2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500" y="3699000"/>
            <a:ext cx="27000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718096"/>
            </a:solidFill>
          </a:ln>
        </p:spPr>
      </p:sp>
      <p:sp>
        <p:nvSpPr>
          <p:cNvPr id="141" name="both-target-scores">
            <a:extLst xmlns:a="http://schemas.openxmlformats.org/drawingml/2006/main">
              <a:ext uri="{FF2B5EF4-FFF2-40B4-BE49-F238E27FC236}">
                <a16:creationId xmlns:a16="http://schemas.microsoft.com/office/drawing/2014/main" id="{A6AA0827-51E9-44A8-ADB7-1679EF6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0" y="3469500"/>
            <a:ext cx="117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Both gains scored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202C3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C39"/>
                </a:solidFill>
                <a:latin typeface="Arial"/>
                <a:ea typeface="Arial"/>
                <a:cs typeface="Arial"/>
              </a:rPr>
              <a:t>with target outcomes</a:t>
            </a:r>
          </a:p>
        </p:txBody>
      </p:sp>
      <p:cxnSp>
        <p:nvCxn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B12E1EC-1091-4062-9CB0-31608DEA959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65900" y="2133000"/>
            <a:ext cx="88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none" w="med" len="med"/>
          </a:ln>
        </p:spPr>
      </p:cxnSp>
      <p:cxnSp>
        <p:nvCxn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73AC276-E4CD-4118-82B1-29E207A4482E}"/>
              </a:ext>
            </a:extLst>
          </p:cNvPr>
          <p:cNvCxnSpPr>
            <a:stCxn xmlns:a="http://schemas.openxmlformats.org/drawingml/2006/main" id="1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855000" y="1413900"/>
            <a:ext cx="0" cy="718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none" w="med" len="med"/>
          </a:ln>
        </p:spPr>
      </p:cxnSp>
      <p:cxnSp>
        <p:nvCxn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71A9246-F21B-408B-978C-A459AD55BF6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5900" y="1413000"/>
            <a:ext cx="286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triangle" w="med" len="med"/>
          </a:ln>
        </p:spPr>
      </p:cxnSp>
      <p:cxnSp>
        <p:nvCxn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3E0D8D8-D9A9-4D1E-8B74-66E904A0E31E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55000" y="2133900"/>
            <a:ext cx="0" cy="1114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none" w="med" len="med"/>
          </a:ln>
        </p:spPr>
      </p:cxnSp>
      <p:cxnSp>
        <p:nvCxn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C2B3109-63F5-44E6-8CEF-9DBD7335B1B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55900" y="3249000"/>
            <a:ext cx="286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triangle" w="med" len="med"/>
          </a:ln>
        </p:spPr>
      </p:cxnSp>
      <p:cxnSp>
        <p:nvCxn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A69BD09-6824-4C54-AC26-1CC72A5EB15E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214900" y="1413000"/>
            <a:ext cx="340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solid"/>
            <a:tailEnd type="none" w="med" len="med"/>
          </a:ln>
        </p:spPr>
      </p:cxnSp>
      <p:cxnSp>
        <p:nvCxn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C28BDC5-BC44-43A2-B6E6-F1BEEF6B5BED}"/>
              </a:ext>
            </a:extLst>
          </p:cNvPr>
          <p:cNvCxnSpPr>
            <a:stCxn xmlns:a="http://schemas.openxmlformats.org/drawingml/2006/main" id="36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2556000" y="698400"/>
            <a:ext cx="0" cy="7137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solid"/>
            <a:tailEnd type="none" w="med" len="med"/>
          </a:ln>
        </p:spPr>
      </p:cxnSp>
      <p:cxnSp>
        <p:nvCxn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CB2DA17-F433-4A04-979F-93F4B8265928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556900" y="697500"/>
            <a:ext cx="304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solid"/>
            <a:tailEnd type="triangle" w="med" len="med"/>
          </a:ln>
        </p:spPr>
      </p:cxnSp>
      <p:cxnSp>
        <p:nvCxn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353F799-C930-47BF-895C-DD9BFADF64F0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2556000" y="1413900"/>
            <a:ext cx="0" cy="79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D95F0E"/>
            </a:solidFill>
            <a:prstDash val="solid"/>
            <a:tailEnd type="none" w="med" len="med"/>
          </a:ln>
        </p:spPr>
      </p:cxnSp>
      <p:cxnSp>
        <p:nvCxn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9C83159-815B-43A2-B513-C167F94DF3C5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2556900" y="1494000"/>
            <a:ext cx="304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D95F0E"/>
            </a:solidFill>
            <a:prstDash val="solid"/>
            <a:tailEnd type="triangle" w="med" len="med"/>
          </a:ln>
        </p:spPr>
      </p:cxnSp>
      <p:cxnSp>
        <p:nvCxn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E99C152-6BDF-499F-ABE6-DB3F307E599B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4032900" y="697500"/>
            <a:ext cx="349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solid"/>
            <a:tailEnd type="triangle" w="med" len="med"/>
          </a:ln>
        </p:spPr>
      </p:cxnSp>
      <p:cxnSp>
        <p:nvCxn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8B2EA21-EE28-4B21-BFF3-AE3CE8B88ED4}"/>
              </a:ext>
            </a:extLst>
          </p:cNvPr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3447000" y="1683900"/>
            <a:ext cx="0" cy="52020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D95F0E"/>
            </a:solidFill>
            <a:prstDash val="solid"/>
            <a:tailEnd type="triangle" w="med" len="med"/>
          </a:ln>
        </p:spPr>
      </p:cxnSp>
      <p:cxnSp>
        <p:nvCxn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8C0267E-2C23-4750-AB51-56076DC5F15D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214900" y="3249000"/>
            <a:ext cx="340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02C39"/>
            </a:solidFill>
            <a:prstDash val="solid"/>
            <a:tailEnd type="none" w="med" len="med"/>
          </a:ln>
        </p:spPr>
      </p:cxnSp>
      <p:cxnSp>
        <p:nvCxn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F06907D-AF08-4ED0-A0DC-7C2F565B7821}"/>
              </a:ext>
            </a:extLst>
          </p:cNvPr>
          <p:cNvCxnSpPr>
            <a:stCxn xmlns:a="http://schemas.openxmlformats.org/drawingml/2006/main" id="73" idx="0"/>
            <a:endCxn xmlns:a="http://schemas.openxmlformats.org/drawingml/2006/main" id="74" idx="2"/>
          </p:cNvCxnSpPr>
          <p:nvPr/>
        </p:nvCxnSpPr>
        <p:spPr>
          <a:xfrm xmlns:a="http://schemas.openxmlformats.org/drawingml/2006/main" flipV="1">
            <a:off x="2556000" y="2394900"/>
            <a:ext cx="0" cy="853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D95F0E"/>
            </a:solidFill>
            <a:prstDash val="solid"/>
            <a:tailEnd type="none" w="med" len="med"/>
          </a:ln>
        </p:spPr>
      </p:cxnSp>
      <p:cxnSp>
        <p:nvCxn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E468526-1BCF-426E-AB18-64418D374D17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556900" y="2394000"/>
            <a:ext cx="304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D95F0E"/>
            </a:solidFill>
            <a:prstDash val="solid"/>
            <a:tailEnd type="triangle" w="med" len="med"/>
          </a:ln>
        </p:spPr>
      </p:cxnSp>
      <p:cxnSp>
        <p:nvCxn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9F7EA15-4F03-4FB9-ABE2-86A22BC27E5C}"/>
              </a:ext>
            </a:extLst>
          </p:cNvPr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2556000" y="3249900"/>
            <a:ext cx="0" cy="115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166AC"/>
            </a:solidFill>
            <a:prstDash val="solid"/>
            <a:tailEnd type="none" w="med" len="med"/>
          </a:ln>
        </p:spPr>
      </p:cxnSp>
      <p:cxnSp>
        <p:nvCxn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9A2C580-5041-4CD5-9B26-F24D362484BC}"/>
              </a:ext>
            </a:extLst>
          </p:cNvPr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556900" y="3366000"/>
            <a:ext cx="304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166AC"/>
            </a:solidFill>
            <a:prstDash val="solid"/>
            <a:tailEnd type="triangle" w="med" len="med"/>
          </a:ln>
        </p:spPr>
      </p:cxnSp>
      <p:cxnSp>
        <p:nvCxn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14A216E-ED13-4CC6-A9A7-22F377A578CF}"/>
              </a:ext>
            </a:extLst>
          </p:cNvPr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4032900" y="2394000"/>
            <a:ext cx="988200" cy="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D95F0E"/>
            </a:solidFill>
            <a:prstDash val="solid"/>
            <a:tailEnd type="none" w="med" len="med"/>
          </a:ln>
        </p:spPr>
      </p:cxnSp>
      <p:cxnSp>
        <p:nvCxn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EBA0FD0-3947-4182-A75E-D314C6F9D098}"/>
              </a:ext>
            </a:extLst>
          </p:cNvPr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5022000" y="1512900"/>
            <a:ext cx="0" cy="88020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D95F0E"/>
            </a:solidFill>
            <a:prstDash val="solid"/>
            <a:tailEnd type="none" w="med" len="med"/>
          </a:ln>
        </p:spPr>
      </p:cxnSp>
      <p:cxnSp>
        <p:nvCxn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D4C814E-9D23-49C7-B9A7-4417B5238BF7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5022900" y="1512000"/>
            <a:ext cx="232200" cy="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D95F0E"/>
            </a:solidFill>
            <a:prstDash val="solid"/>
            <a:tailEnd type="triangle" w="med" len="med"/>
          </a:ln>
        </p:spPr>
      </p:cxnSp>
      <p:cxnSp>
        <p:nvCxn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4E2BBA6-1BE2-4E6F-9932-552F0286820E}"/>
              </a:ext>
            </a:extLst>
          </p:cNvPr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4032900" y="3366000"/>
            <a:ext cx="988200" cy="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2166AC"/>
            </a:solidFill>
            <a:prstDash val="solid"/>
            <a:tailEnd type="none" w="med" len="med"/>
          </a:ln>
        </p:spPr>
      </p:cxnSp>
      <p:cxnSp>
        <p:nvCxn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81A2A55-9C24-41A3-BFA8-854AED23F6BD}"/>
              </a:ext>
            </a:extLst>
          </p:cNvPr>
          <p:cNvCxnSpPr>
            <a:stCxn xmlns:a="http://schemas.openxmlformats.org/drawingml/2006/main" id="101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5022000" y="3186900"/>
            <a:ext cx="0" cy="17820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2166AC"/>
            </a:solidFill>
            <a:prstDash val="solid"/>
            <a:tailEnd type="none" w="med" len="med"/>
          </a:ln>
        </p:spPr>
      </p:cxnSp>
      <p:cxnSp>
        <p:nvCxn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D1D5199-60C9-46BD-B198-FFCE34E43784}"/>
              </a:ext>
            </a:extLst>
          </p:cNvPr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022900" y="3186000"/>
            <a:ext cx="232200" cy="0"/>
          </a:xfrm>
          <a:prstGeom xmlns:a="http://schemas.openxmlformats.org/drawingml/2006/main" prst="straightConnector1">
            <a:avLst/>
          </a:prstGeom>
          <a:ln xmlns:a="http://schemas.openxmlformats.org/drawingml/2006/main" w="9900">
            <a:solidFill>
              <a:srgbClr val="2166AC"/>
            </a:solidFill>
            <a:prstDash val="solid"/>
            <a:tailEnd type="triangle" w="med" len="med"/>
          </a:ln>
        </p:spPr>
      </p:cxnSp>
      <p:cxnSp>
        <p:nvCxn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F056EF2-0A45-48C2-A127-5D53DDD594C9}"/>
              </a:ext>
            </a:extLst>
          </p:cNvPr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5773500" y="1674900"/>
            <a:ext cx="0" cy="493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D95F0E"/>
            </a:solidFill>
            <a:prstDash val="solid"/>
            <a:tailEnd type="triangle" w="med" len="med"/>
          </a:ln>
        </p:spPr>
      </p:cxnSp>
      <p:cxnSp>
        <p:nvCxn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30D6FDB-CB77-4896-BAA2-2389E030AD0F}"/>
              </a:ext>
            </a:extLst>
          </p:cNvPr>
          <p:cNvCxnSpPr>
            <a:stCxn xmlns:a="http://schemas.openxmlformats.org/drawingml/2006/main" id="120" idx="0"/>
            <a:endCxn xmlns:a="http://schemas.openxmlformats.org/drawingml/2006/main" id="121" idx="2"/>
          </p:cNvCxnSpPr>
          <p:nvPr/>
        </p:nvCxnSpPr>
        <p:spPr>
          <a:xfrm xmlns:a="http://schemas.openxmlformats.org/drawingml/2006/main" flipV="1">
            <a:off x="5773500" y="2493900"/>
            <a:ext cx="0" cy="5292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2166AC"/>
            </a:solidFill>
            <a:prstDash val="solid"/>
            <a:tailEnd type="triangle" w="med" len="med"/>
          </a:ln>
        </p:spPr>
      </p:cxnSp>
      <p:cxnSp>
        <p:nvCxn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57A479E-470F-488D-958C-16A3B6DC07AD}"/>
              </a:ext>
            </a:extLst>
          </p:cNvPr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2214900" y="3712500"/>
            <a:ext cx="484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none" w="med" len="med"/>
          </a:ln>
        </p:spPr>
      </p:cxnSp>
      <p:cxnSp>
        <p:nvCxn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81CCA25-5E97-48FE-A5F1-AA20373C0C42}"/>
              </a:ext>
            </a:extLst>
          </p:cNvPr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2700900" y="3712500"/>
            <a:ext cx="745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none" w="med" len="med"/>
          </a:ln>
        </p:spPr>
      </p:cxnSp>
      <p:cxnSp>
        <p:nvCxn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FA8CA50-AA27-4D01-947C-35632ABA0F3C}"/>
              </a:ext>
            </a:extLst>
          </p:cNvPr>
          <p:cNvCxnSpPr>
            <a:stCxn xmlns:a="http://schemas.openxmlformats.org/drawingml/2006/main" id="129" idx="0"/>
            <a:endCxn xmlns:a="http://schemas.openxmlformats.org/drawingml/2006/main" id="130" idx="2"/>
          </p:cNvCxnSpPr>
          <p:nvPr/>
        </p:nvCxnSpPr>
        <p:spPr>
          <a:xfrm xmlns:a="http://schemas.openxmlformats.org/drawingml/2006/main" flipV="1">
            <a:off x="3447000" y="3555900"/>
            <a:ext cx="0" cy="1557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triangle" w="med" len="med"/>
          </a:ln>
        </p:spPr>
      </p:cxnSp>
      <p:cxnSp>
        <p:nvCxn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8F2CBEC-8434-4BDF-AD00-B1771D71F577}"/>
              </a:ext>
            </a:extLst>
          </p:cNvPr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2700900" y="3712500"/>
            <a:ext cx="2212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none" w="med" len="med"/>
          </a:ln>
        </p:spPr>
      </p:cxnSp>
      <p:cxnSp>
        <p:nvCxn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A00651C-FB5B-42CC-A8C7-51BB638FA731}"/>
              </a:ext>
            </a:extLst>
          </p:cNvPr>
          <p:cNvCxnSpPr>
            <a:stCxn xmlns:a="http://schemas.openxmlformats.org/drawingml/2006/main" id="134" idx="0"/>
            <a:endCxn xmlns:a="http://schemas.openxmlformats.org/drawingml/2006/main" id="135" idx="2"/>
          </p:cNvCxnSpPr>
          <p:nvPr/>
        </p:nvCxnSpPr>
        <p:spPr>
          <a:xfrm xmlns:a="http://schemas.openxmlformats.org/drawingml/2006/main" flipV="1">
            <a:off x="4914000" y="3636900"/>
            <a:ext cx="0" cy="7470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none" w="med" len="med"/>
          </a:ln>
        </p:spPr>
      </p:cxnSp>
      <p:cxnSp>
        <p:nvCxn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0330B41C-97BB-446E-87B7-FD73526E7187}"/>
              </a:ext>
            </a:extLst>
          </p:cNvPr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4914900" y="3636000"/>
            <a:ext cx="205200" cy="0"/>
          </a:xfrm>
          <a:prstGeom xmlns:a="http://schemas.openxmlformats.org/drawingml/2006/main" prst="straightConnector1">
            <a:avLst/>
          </a:prstGeom>
          <a:ln xmlns:a="http://schemas.openxmlformats.org/drawingml/2006/main" w="8550">
            <a:solidFill>
              <a:srgbClr val="718096"/>
            </a:solidFill>
            <a:prstDash val="dash"/>
            <a:tailEnd type="triangle" w="med" len="med"/>
          </a:ln>
        </p:spPr>
      </p:cxnSp>
      <p:sp>
        <p:nvSpPr>
          <p:cNvPr id="391" name="future-panel">
            <a:extLst xmlns:a="http://schemas.openxmlformats.org/drawingml/2006/main">
              <a:ext uri="{FF2B5EF4-FFF2-40B4-BE49-F238E27FC236}">
                <a16:creationId xmlns:a16="http://schemas.microsoft.com/office/drawing/2014/main" id="{94E13C22-2D76-444F-8472-979C65FA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057650"/>
            <a:ext cx="6276975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AEBECC"/>
            </a:solidFill>
          </a:ln>
        </p:spPr>
      </p:sp>
      <p:sp>
        <p:nvSpPr>
          <p:cNvPr id="392" name="future-heading">
            <a:extLst xmlns:a="http://schemas.openxmlformats.org/drawingml/2006/main">
              <a:ext uri="{FF2B5EF4-FFF2-40B4-BE49-F238E27FC236}">
                <a16:creationId xmlns:a16="http://schemas.microsoft.com/office/drawing/2014/main" id="{D3716D8D-09BE-44DB-BFFC-7E41A19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1243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3" b="1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3" b="1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73453"/>
                </a:solidFill>
                <a:latin typeface="Arial"/>
                <a:ea typeface="Arial"/>
                <a:cs typeface="Arial"/>
              </a:rPr>
              <a:t>d  Later-presentation updating</a:t>
            </a:r>
          </a:p>
        </p:txBody>
      </p:sp>
      <p:sp>
        <p:nvSpPr>
          <p:cNvPr id="393" name="S-frozen">
            <a:extLst xmlns:a="http://schemas.openxmlformats.org/drawingml/2006/main">
              <a:ext uri="{FF2B5EF4-FFF2-40B4-BE49-F238E27FC236}">
                <a16:creationId xmlns:a16="http://schemas.microsoft.com/office/drawing/2014/main" id="{458FDA67-D0D1-4FFE-916A-CBE32EC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429125"/>
            <a:ext cx="15621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6668">
            <a:solidFill>
              <a:srgbClr val="718096"/>
            </a:solidFill>
          </a:ln>
        </p:spPr>
      </p:sp>
      <p:sp>
        <p:nvSpPr>
          <p:cNvPr id="394" name="S-frozen-label">
            <a:extLst xmlns:a="http://schemas.openxmlformats.org/drawingml/2006/main">
              <a:ext uri="{FF2B5EF4-FFF2-40B4-BE49-F238E27FC236}">
                <a16:creationId xmlns:a16="http://schemas.microsoft.com/office/drawing/2014/main" id="{2AC9ED68-C5D3-4E80-90EB-DFB679F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67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Source S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Freeze predictor and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historical calibration</a:t>
            </a:r>
          </a:p>
        </p:txBody>
      </p:sp>
      <p:sp>
        <p:nvSpPr>
          <p:cNvPr id="395" name="T1-update">
            <a:extLst xmlns:a="http://schemas.openxmlformats.org/drawingml/2006/main">
              <a:ext uri="{FF2B5EF4-FFF2-40B4-BE49-F238E27FC236}">
                <a16:creationId xmlns:a16="http://schemas.microsoft.com/office/drawing/2014/main" id="{A744359C-1D36-426D-9F39-D2716F62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29125"/>
            <a:ext cx="17145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6668">
            <a:solidFill>
              <a:srgbClr val="2166AC"/>
            </a:solidFill>
          </a:ln>
        </p:spPr>
      </p:sp>
      <p:sp>
        <p:nvSpPr>
          <p:cNvPr id="396" name="T1-update-label">
            <a:extLst xmlns:a="http://schemas.openxmlformats.org/drawingml/2006/main">
              <a:ext uri="{FF2B5EF4-FFF2-40B4-BE49-F238E27FC236}">
                <a16:creationId xmlns:a16="http://schemas.microsoft.com/office/drawing/2014/main" id="{4A28AD6C-14E7-4C8C-9DB3-AFD3759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4672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Intermediate T1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Update calibration using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completed T1 outcomes</a:t>
            </a:r>
          </a:p>
        </p:txBody>
      </p:sp>
      <p:sp>
        <p:nvSpPr>
          <p:cNvPr id="397" name="T2-score">
            <a:extLst xmlns:a="http://schemas.openxmlformats.org/drawingml/2006/main">
              <a:ext uri="{FF2B5EF4-FFF2-40B4-BE49-F238E27FC236}">
                <a16:creationId xmlns:a16="http://schemas.microsoft.com/office/drawing/2014/main" id="{C3FFC893-4702-4D94-85E6-AAECD3C7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29125"/>
            <a:ext cx="17907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173453"/>
            </a:solidFill>
          </a:ln>
        </p:spPr>
      </p:sp>
      <p:sp>
        <p:nvSpPr>
          <p:cNvPr id="398" name="T2-score-label">
            <a:extLst xmlns:a="http://schemas.openxmlformats.org/drawingml/2006/main">
              <a:ext uri="{FF2B5EF4-FFF2-40B4-BE49-F238E27FC236}">
                <a16:creationId xmlns:a16="http://schemas.microsoft.com/office/drawing/2014/main" id="{D7999071-15A6-4B30-8FF9-E1A5FA32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672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Later T2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Learners unseen in S and T1</a:t>
            </a:r>
          </a:p>
          <a:p xmlns:a="http://schemas.openxmlformats.org/drawingml/2006/main">
            <a:pPr algn="ctr">
              <a:defRPr sz="750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Compare both mappings</a:t>
            </a:r>
          </a:p>
        </p:txBody>
      </p:sp>
      <p:sp>
        <p:nvSpPr>
          <p:cNvPr id="399" name="d-time-arrow">
            <a:extLst xmlns:a="http://schemas.openxmlformats.org/drawingml/2006/main">
              <a:ext uri="{FF2B5EF4-FFF2-40B4-BE49-F238E27FC236}">
                <a16:creationId xmlns:a16="http://schemas.microsoft.com/office/drawing/2014/main" id="{5D002F09-3FE7-47A5-8955-55E7C40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29150"/>
            <a:ext cx="3619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400" name="d-time-arrow">
            <a:extLst xmlns:a="http://schemas.openxmlformats.org/drawingml/2006/main">
              <a:ext uri="{FF2B5EF4-FFF2-40B4-BE49-F238E27FC236}">
                <a16:creationId xmlns:a16="http://schemas.microsoft.com/office/drawing/2014/main" id="{A821AF02-6629-4C72-960F-0DF5563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29150"/>
            <a:ext cx="3810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</a:ln>
        </p:spPr>
      </p:sp>
      <p:sp>
        <p:nvSpPr>
          <p:cNvPr id="401" name="d-frozen-boundary">
            <a:extLst xmlns:a="http://schemas.openxmlformats.org/drawingml/2006/main">
              <a:ext uri="{FF2B5EF4-FFF2-40B4-BE49-F238E27FC236}">
                <a16:creationId xmlns:a16="http://schemas.microsoft.com/office/drawing/2014/main" id="{8B3B00C5-0BCD-4897-971F-13822A94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496252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8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8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Same frozen source predictor throughout</a:t>
            </a:r>
          </a:p>
        </p:txBody>
      </p:sp>
      <p:sp>
        <p:nvSpPr>
          <p:cNvPr id="402" name="d-evaluation-boundary">
            <a:extLst xmlns:a="http://schemas.openxmlformats.org/drawingml/2006/main">
              <a:ext uri="{FF2B5EF4-FFF2-40B4-BE49-F238E27FC236}">
                <a16:creationId xmlns:a16="http://schemas.microsoft.com/office/drawing/2014/main" id="{1E9972A2-C2B8-408D-ACD0-4CC1C810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625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8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8" b="0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173453"/>
                </a:solidFill>
                <a:latin typeface="Arial"/>
                <a:ea typeface="Arial"/>
                <a:cs typeface="Arial"/>
              </a:rPr>
              <a:t>T2 outcomes: scoring only</a:t>
            </a:r>
          </a:p>
        </p:txBody>
      </p:sp>
      <p:sp>
        <p:nvSpPr>
          <p:cNvPr id="403" name="d-estimand">
            <a:extLst xmlns:a="http://schemas.openxmlformats.org/drawingml/2006/main">
              <a:ext uri="{FF2B5EF4-FFF2-40B4-BE49-F238E27FC236}">
                <a16:creationId xmlns:a16="http://schemas.microsoft.com/office/drawing/2014/main" id="{C798E14F-9F8B-4733-9FE5-C4BD9518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62550"/>
            <a:ext cx="560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3" b="1">
                <a:solidFill>
                  <a:srgbClr val="1734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73" b="1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73453"/>
                </a:solidFill>
                <a:latin typeface="Arial"/>
                <a:ea typeface="Arial"/>
                <a:cs typeface="Arial"/>
              </a:rPr>
              <a:t>U = Brier(historical map on T2) − Brier(updated map on T2)</a:t>
            </a:r>
          </a:p>
        </p:txBody>
      </p:sp>
    </p:spTree>
    <p:extLst>
      <p:ext uri="{BB962C8B-B14F-4D97-AF65-F5344CB8AC3E}">
        <p14:creationId xmlns:p14="http://schemas.microsoft.com/office/powerpoint/2010/main" val="1065468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2026-10-14T06:48:52.5960000Z</dcterms:created>
  <dcterms:modified xsi:type="dcterms:W3CDTF">2026-10-14T06:48:52.5970000Z</dcterms:modified>
</coreProperties>
</file>